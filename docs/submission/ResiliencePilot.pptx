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ResiliencePilot SDV. Our claim: an API that answers HTTP 200 is not proof the fleet data is fresh. Introduce the five team members and their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receivedDateTime is the server's clock, so it always looks fresh. createdDateTime is stamped on the vehicle side. During a telemetry stall every poll returned 200 while createdDateTime stopped advancing.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Telemetry: csv-provider → KUKSA databroker → fms-forwarder → Zenoh → fms-consumer → InfluxDB → fms-server. ResiliencePilot reads the API like a client and controls only allowlisted containers. The data-quality gate is a separate module on a synthetic logistics feed with its own SQLite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table top to bottom: blueprint stack first, then our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three issues come from recorded live runs (reports/day2/README.md); the DNS explanation is a hypothesis, not verified. The last two are handled by the data-quality gate on a synthetic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tagline: HTTP 200 is not recovery. Fresh data is. Numbers: run count = committed run records; median = full-window Day-2 runs scored by rp score; tests = pytest -q on feat/data-quality.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demo/VIDEO_SCRIPT.md" TargetMode="External"/><Relationship Id="rId3" Type="http://schemas.openxmlformats.org/officeDocument/2006/relationships/hyperlink" Target="../scene/index.html" TargetMode="External"/><Relationship Id="rId4" Type="http://schemas.openxmlformats.org/officeDocument/2006/relationships/hyperlink" Target="https://github.com/Anshu-raj-co/ResiliencePilot" TargetMode="Externa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ogo"/>
          <p:cNvSpPr/>
          <p:nvPr/>
        </p:nvSpPr>
        <p:spPr>
          <a:xfrm>
            <a:off x="548640" y="731520"/>
            <a:ext cx="457200" cy="457200"/>
          </a:xfrm>
          <a:prstGeom prst="ellipse">
            <a:avLst/>
          </a:prstGeom>
          <a:solidFill>
            <a:srgbClr val="009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RP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1188720" y="78638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D6E6"/>
                </a:solidFill>
                <a:latin typeface="Calibri"/>
              </a:rPr>
              <a:t>Team &amp; project overview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ResiliencePilot SDV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548640" y="2423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5FD6C8"/>
                </a:solidFill>
                <a:latin typeface="Cambria"/>
              </a:rPr>
              <a:t>HTTP 200 is not recovery. Fresh data is.</a:t>
            </a:r>
          </a:p>
        </p:txBody>
      </p:sp>
      <p:sp>
        <p:nvSpPr>
          <p:cNvPr id="6" name="Summary"/>
          <p:cNvSpPr txBox="1"/>
          <p:nvPr/>
        </p:nvSpPr>
        <p:spPr>
          <a:xfrm>
            <a:off x="548640" y="30632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9D6E6"/>
                </a:solidFill>
                <a:latin typeface="Calibri"/>
              </a:rPr>
              <a:t>A local-first resilience workbench for the Eclipse SDV Fleet Management Blueprint: bounded fault experiments behind a deterministic safety controller, recovery verified from advancing vehicle telemetry.</a:t>
            </a:r>
          </a:p>
        </p:txBody>
      </p:sp>
      <p:sp>
        <p:nvSpPr>
          <p:cNvPr id="7" name="Team card 1"/>
          <p:cNvSpPr/>
          <p:nvPr/>
        </p:nvSpPr>
        <p:spPr>
          <a:xfrm>
            <a:off x="548640" y="4160520"/>
            <a:ext cx="2036003" cy="1965960"/>
          </a:xfrm>
          <a:prstGeom prst="roundRect">
            <a:avLst>
              <a:gd name="adj" fmla="val 8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Initials 1"/>
          <p:cNvSpPr/>
          <p:nvPr/>
        </p:nvSpPr>
        <p:spPr>
          <a:xfrm>
            <a:off x="777240" y="4389120"/>
            <a:ext cx="640080" cy="640080"/>
          </a:xfrm>
          <a:prstGeom prst="ellipse">
            <a:avLst/>
          </a:prstGeom>
          <a:solidFill>
            <a:srgbClr val="009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VR</a:t>
            </a:r>
          </a:p>
        </p:txBody>
      </p:sp>
      <p:sp>
        <p:nvSpPr>
          <p:cNvPr id="9" name="Name 1"/>
          <p:cNvSpPr txBox="1"/>
          <p:nvPr/>
        </p:nvSpPr>
        <p:spPr>
          <a:xfrm>
            <a:off x="777240" y="5166360"/>
            <a:ext cx="15788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Vaibhav Raghav</a:t>
            </a:r>
          </a:p>
        </p:txBody>
      </p:sp>
      <p:sp>
        <p:nvSpPr>
          <p:cNvPr id="10" name="Role 1"/>
          <p:cNvSpPr txBox="1"/>
          <p:nvPr/>
        </p:nvSpPr>
        <p:spPr>
          <a:xfrm>
            <a:off x="777240" y="5532120"/>
            <a:ext cx="15788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D6E6"/>
                </a:solidFill>
                <a:latin typeface="Calibri"/>
              </a:rPr>
              <a:t>Lead &amp; Safety Architecture</a:t>
            </a:r>
          </a:p>
        </p:txBody>
      </p:sp>
      <p:sp>
        <p:nvSpPr>
          <p:cNvPr id="11" name="Team card 2"/>
          <p:cNvSpPr/>
          <p:nvPr/>
        </p:nvSpPr>
        <p:spPr>
          <a:xfrm>
            <a:off x="2813243" y="4160520"/>
            <a:ext cx="2036003" cy="1965960"/>
          </a:xfrm>
          <a:prstGeom prst="roundRect">
            <a:avLst>
              <a:gd name="adj" fmla="val 8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Initials 2"/>
          <p:cNvSpPr/>
          <p:nvPr/>
        </p:nvSpPr>
        <p:spPr>
          <a:xfrm>
            <a:off x="3041843" y="4389120"/>
            <a:ext cx="640080" cy="640080"/>
          </a:xfrm>
          <a:prstGeom prst="ellipse">
            <a:avLst/>
          </a:prstGeom>
          <a:solidFill>
            <a:srgbClr val="009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AR</a:t>
            </a:r>
          </a:p>
        </p:txBody>
      </p:sp>
      <p:sp>
        <p:nvSpPr>
          <p:cNvPr id="13" name="Name 2"/>
          <p:cNvSpPr txBox="1"/>
          <p:nvPr/>
        </p:nvSpPr>
        <p:spPr>
          <a:xfrm>
            <a:off x="3041843" y="5166360"/>
            <a:ext cx="15788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Anshu Raj</a:t>
            </a:r>
          </a:p>
        </p:txBody>
      </p:sp>
      <p:sp>
        <p:nvSpPr>
          <p:cNvPr id="14" name="Role 2"/>
          <p:cNvSpPr txBox="1"/>
          <p:nvPr/>
        </p:nvSpPr>
        <p:spPr>
          <a:xfrm>
            <a:off x="3041843" y="5532120"/>
            <a:ext cx="15788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D6E6"/>
                </a:solidFill>
                <a:latin typeface="Calibri"/>
              </a:rPr>
              <a:t>Full-Stack &amp; Observability</a:t>
            </a:r>
          </a:p>
        </p:txBody>
      </p:sp>
      <p:sp>
        <p:nvSpPr>
          <p:cNvPr id="15" name="Team card 3"/>
          <p:cNvSpPr/>
          <p:nvPr/>
        </p:nvSpPr>
        <p:spPr>
          <a:xfrm>
            <a:off x="5077846" y="4160520"/>
            <a:ext cx="2036003" cy="1965960"/>
          </a:xfrm>
          <a:prstGeom prst="roundRect">
            <a:avLst>
              <a:gd name="adj" fmla="val 8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Initials 3"/>
          <p:cNvSpPr/>
          <p:nvPr/>
        </p:nvSpPr>
        <p:spPr>
          <a:xfrm>
            <a:off x="5306446" y="4389120"/>
            <a:ext cx="640080" cy="640080"/>
          </a:xfrm>
          <a:prstGeom prst="ellipse">
            <a:avLst/>
          </a:prstGeom>
          <a:solidFill>
            <a:srgbClr val="009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NT</a:t>
            </a:r>
          </a:p>
        </p:txBody>
      </p:sp>
      <p:sp>
        <p:nvSpPr>
          <p:cNvPr id="17" name="Name 3"/>
          <p:cNvSpPr txBox="1"/>
          <p:nvPr/>
        </p:nvSpPr>
        <p:spPr>
          <a:xfrm>
            <a:off x="5306446" y="5166360"/>
            <a:ext cx="15788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Nishant Tripathi</a:t>
            </a:r>
          </a:p>
        </p:txBody>
      </p:sp>
      <p:sp>
        <p:nvSpPr>
          <p:cNvPr id="18" name="Role 3"/>
          <p:cNvSpPr txBox="1"/>
          <p:nvPr/>
        </p:nvSpPr>
        <p:spPr>
          <a:xfrm>
            <a:off x="5306446" y="5532120"/>
            <a:ext cx="15788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D6E6"/>
                </a:solidFill>
                <a:latin typeface="Calibri"/>
              </a:rPr>
              <a:t>Systems &amp; Chaos Engineering</a:t>
            </a:r>
          </a:p>
        </p:txBody>
      </p:sp>
      <p:sp>
        <p:nvSpPr>
          <p:cNvPr id="19" name="Team card 4"/>
          <p:cNvSpPr/>
          <p:nvPr/>
        </p:nvSpPr>
        <p:spPr>
          <a:xfrm>
            <a:off x="7342449" y="4160520"/>
            <a:ext cx="2036003" cy="1965960"/>
          </a:xfrm>
          <a:prstGeom prst="roundRect">
            <a:avLst>
              <a:gd name="adj" fmla="val 8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Initials 4"/>
          <p:cNvSpPr/>
          <p:nvPr/>
        </p:nvSpPr>
        <p:spPr>
          <a:xfrm>
            <a:off x="7571049" y="4389120"/>
            <a:ext cx="640080" cy="640080"/>
          </a:xfrm>
          <a:prstGeom prst="ellipse">
            <a:avLst/>
          </a:prstGeom>
          <a:solidFill>
            <a:srgbClr val="009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21" name="Name 4"/>
          <p:cNvSpPr txBox="1"/>
          <p:nvPr/>
        </p:nvSpPr>
        <p:spPr>
          <a:xfrm>
            <a:off x="7571049" y="5166360"/>
            <a:ext cx="15788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Jahnavi</a:t>
            </a:r>
          </a:p>
        </p:txBody>
      </p:sp>
      <p:sp>
        <p:nvSpPr>
          <p:cNvPr id="22" name="Role 4"/>
          <p:cNvSpPr txBox="1"/>
          <p:nvPr/>
        </p:nvSpPr>
        <p:spPr>
          <a:xfrm>
            <a:off x="7571049" y="5532120"/>
            <a:ext cx="15788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D6E6"/>
                </a:solidFill>
                <a:latin typeface="Calibri"/>
              </a:rPr>
              <a:t>Data Pipelines &amp; Analytics</a:t>
            </a:r>
          </a:p>
        </p:txBody>
      </p:sp>
      <p:sp>
        <p:nvSpPr>
          <p:cNvPr id="23" name="Team card 5"/>
          <p:cNvSpPr/>
          <p:nvPr/>
        </p:nvSpPr>
        <p:spPr>
          <a:xfrm>
            <a:off x="9607052" y="4160520"/>
            <a:ext cx="2036003" cy="1965960"/>
          </a:xfrm>
          <a:prstGeom prst="roundRect">
            <a:avLst>
              <a:gd name="adj" fmla="val 8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Initials 5"/>
          <p:cNvSpPr/>
          <p:nvPr/>
        </p:nvSpPr>
        <p:spPr>
          <a:xfrm>
            <a:off x="9835652" y="4389120"/>
            <a:ext cx="640080" cy="640080"/>
          </a:xfrm>
          <a:prstGeom prst="ellipse">
            <a:avLst/>
          </a:prstGeom>
          <a:solidFill>
            <a:srgbClr val="009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5" name="Name 5"/>
          <p:cNvSpPr txBox="1"/>
          <p:nvPr/>
        </p:nvSpPr>
        <p:spPr>
          <a:xfrm>
            <a:off x="9835652" y="5166360"/>
            <a:ext cx="157880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Samhithaa</a:t>
            </a:r>
          </a:p>
        </p:txBody>
      </p:sp>
      <p:sp>
        <p:nvSpPr>
          <p:cNvPr id="26" name="Role 5"/>
          <p:cNvSpPr txBox="1"/>
          <p:nvPr/>
        </p:nvSpPr>
        <p:spPr>
          <a:xfrm>
            <a:off x="9835652" y="5532120"/>
            <a:ext cx="15788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D6E6"/>
                </a:solidFill>
                <a:latin typeface="Calibri"/>
              </a:rPr>
              <a:t>Validation &amp; Test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2133"/>
                </a:solidFill>
                <a:latin typeface="Cambria"/>
              </a:rPr>
              <a:t>The illusion of health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5606E"/>
                </a:solidFill>
                <a:latin typeface="Calibri"/>
              </a:rPr>
              <a:t>The rFMS API keeps answering HTTP 200 while vehicle telemetry is frozen</a:t>
            </a:r>
          </a:p>
        </p:txBody>
      </p:sp>
      <p:sp>
        <p:nvSpPr>
          <p:cNvPr id="4" name="Contrast panel"/>
          <p:cNvSpPr/>
          <p:nvPr/>
        </p:nvSpPr>
        <p:spPr>
          <a:xfrm>
            <a:off x="548640" y="178308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anel label"/>
          <p:cNvSpPr txBox="1"/>
          <p:nvPr/>
        </p:nvSpPr>
        <p:spPr>
          <a:xfrm>
            <a:off x="868680" y="20574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5606E"/>
                </a:solidFill>
                <a:latin typeface="Calibri"/>
              </a:rPr>
              <a:t>One poll during a telemetry stall</a:t>
            </a:r>
          </a:p>
        </p:txBody>
      </p:sp>
      <p:sp>
        <p:nvSpPr>
          <p:cNvPr id="6" name="Signal 1"/>
          <p:cNvSpPr/>
          <p:nvPr/>
        </p:nvSpPr>
        <p:spPr>
          <a:xfrm>
            <a:off x="868680" y="2560320"/>
            <a:ext cx="548640" cy="548640"/>
          </a:xfrm>
          <a:prstGeom prst="ellipse">
            <a:avLst/>
          </a:prstGeom>
          <a:solidFill>
            <a:srgbClr val="009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Signal head 1"/>
          <p:cNvSpPr txBox="1"/>
          <p:nvPr/>
        </p:nvSpPr>
        <p:spPr>
          <a:xfrm>
            <a:off x="1600200" y="254203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2133"/>
                </a:solidFill>
                <a:latin typeface="Calibri"/>
              </a:rPr>
              <a:t>Health check</a:t>
            </a:r>
          </a:p>
        </p:txBody>
      </p:sp>
      <p:sp>
        <p:nvSpPr>
          <p:cNvPr id="8" name="Signal body 1"/>
          <p:cNvSpPr txBox="1"/>
          <p:nvPr/>
        </p:nvSpPr>
        <p:spPr>
          <a:xfrm>
            <a:off x="1600200" y="2889504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  <a:latin typeface="Calibri"/>
              </a:rPr>
              <a:t>HTTP 200 · container running · receivedDateTime fresh</a:t>
            </a:r>
          </a:p>
        </p:txBody>
      </p:sp>
      <p:sp>
        <p:nvSpPr>
          <p:cNvPr id="9" name="Signal 2"/>
          <p:cNvSpPr/>
          <p:nvPr/>
        </p:nvSpPr>
        <p:spPr>
          <a:xfrm>
            <a:off x="868680" y="3657600"/>
            <a:ext cx="548640" cy="548640"/>
          </a:xfrm>
          <a:prstGeom prst="ellipse">
            <a:avLst/>
          </a:prstGeom>
          <a:solidFill>
            <a:srgbClr val="E04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✖</a:t>
            </a:r>
          </a:p>
        </p:txBody>
      </p:sp>
      <p:sp>
        <p:nvSpPr>
          <p:cNvPr id="10" name="Signal head 2"/>
          <p:cNvSpPr txBox="1"/>
          <p:nvPr/>
        </p:nvSpPr>
        <p:spPr>
          <a:xfrm>
            <a:off x="1600200" y="363931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2133"/>
                </a:solidFill>
                <a:latin typeface="Calibri"/>
              </a:rPr>
              <a:t>Vehicle data</a:t>
            </a:r>
          </a:p>
        </p:txBody>
      </p:sp>
      <p:sp>
        <p:nvSpPr>
          <p:cNvPr id="11" name="Signal body 2"/>
          <p:cNvSpPr txBox="1"/>
          <p:nvPr/>
        </p:nvSpPr>
        <p:spPr>
          <a:xfrm>
            <a:off x="1600200" y="3986784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  <a:latin typeface="Calibri"/>
              </a:rPr>
              <a:t>createdDateTime frozen: no new telemetry from the truck</a:t>
            </a:r>
          </a:p>
        </p:txBody>
      </p:sp>
      <p:sp>
        <p:nvSpPr>
          <p:cNvPr id="12" name="Signal 3"/>
          <p:cNvSpPr/>
          <p:nvPr/>
        </p:nvSpPr>
        <p:spPr>
          <a:xfrm>
            <a:off x="868680" y="4754880"/>
            <a:ext cx="548640" cy="548640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3" name="Signal head 3"/>
          <p:cNvSpPr txBox="1"/>
          <p:nvPr/>
        </p:nvSpPr>
        <p:spPr>
          <a:xfrm>
            <a:off x="1600200" y="473659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42133"/>
                </a:solidFill>
                <a:latin typeface="Calibri"/>
              </a:rPr>
              <a:t>Verdict</a:t>
            </a:r>
          </a:p>
        </p:txBody>
      </p:sp>
      <p:sp>
        <p:nvSpPr>
          <p:cNvPr id="14" name="Signal body 3"/>
          <p:cNvSpPr txBox="1"/>
          <p:nvPr/>
        </p:nvSpPr>
        <p:spPr>
          <a:xfrm>
            <a:off x="1600200" y="5084064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06E"/>
                </a:solidFill>
                <a:latin typeface="Calibri"/>
              </a:rPr>
              <a:t>STALE while HTTP 200: a silent failure</a:t>
            </a:r>
          </a:p>
        </p:txBody>
      </p:sp>
      <p:sp>
        <p:nvSpPr>
          <p:cNvPr id="15" name="Evidence note"/>
          <p:cNvSpPr txBox="1"/>
          <p:nvPr/>
        </p:nvSpPr>
        <p:spPr>
          <a:xfrm>
            <a:off x="868680" y="53949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606E"/>
                </a:solidFill>
                <a:latin typeface="Calibri"/>
              </a:rPr>
              <a:t>Recorded: HTTP 200 on 100 % of fault polls in every telemetry_stall and service_crash run</a:t>
            </a:r>
          </a:p>
        </p:txBody>
      </p:sp>
      <p:sp>
        <p:nvSpPr>
          <p:cNvPr id="16" name="Objectives head"/>
          <p:cNvSpPr txBox="1"/>
          <p:nvPr/>
        </p:nvSpPr>
        <p:spPr>
          <a:xfrm>
            <a:off x="6492240" y="1783080"/>
            <a:ext cx="5150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133"/>
                </a:solidFill>
                <a:latin typeface="Cambria"/>
              </a:rPr>
              <a:t>Objectives</a:t>
            </a:r>
          </a:p>
        </p:txBody>
      </p:sp>
      <p:sp>
        <p:nvSpPr>
          <p:cNvPr id="17" name="Objective number 1"/>
          <p:cNvSpPr/>
          <p:nvPr/>
        </p:nvSpPr>
        <p:spPr>
          <a:xfrm>
            <a:off x="6492240" y="2377440"/>
            <a:ext cx="457200" cy="457200"/>
          </a:xfrm>
          <a:prstGeom prst="ellipse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Objective 1"/>
          <p:cNvSpPr txBox="1"/>
          <p:nvPr/>
        </p:nvSpPr>
        <p:spPr>
          <a:xfrm>
            <a:off x="7132320" y="2340864"/>
            <a:ext cx="45107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133"/>
                </a:solidFill>
                <a:latin typeface="Calibri"/>
              </a:rPr>
              <a:t>Continuous resilience auditing</a:t>
            </a:r>
          </a:p>
          <a:p>
            <a:pPr algn="l"/>
            <a:r>
              <a:rPr sz="1400" b="0" i="0">
                <a:solidFill>
                  <a:srgbClr val="55606E"/>
                </a:solidFill>
                <a:latin typeface="Calibri"/>
              </a:rPr>
              <a:t>Observe the rFMS API like a client; judge freshness by the vehicle's own createdDateTime, not by status codes.</a:t>
            </a:r>
          </a:p>
        </p:txBody>
      </p:sp>
      <p:sp>
        <p:nvSpPr>
          <p:cNvPr id="19" name="Objective number 2"/>
          <p:cNvSpPr/>
          <p:nvPr/>
        </p:nvSpPr>
        <p:spPr>
          <a:xfrm>
            <a:off x="6492240" y="3291840"/>
            <a:ext cx="457200" cy="457200"/>
          </a:xfrm>
          <a:prstGeom prst="ellipse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Objective 2"/>
          <p:cNvSpPr txBox="1"/>
          <p:nvPr/>
        </p:nvSpPr>
        <p:spPr>
          <a:xfrm>
            <a:off x="7132320" y="3255264"/>
            <a:ext cx="45107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133"/>
                </a:solidFill>
                <a:latin typeface="Calibri"/>
              </a:rPr>
              <a:t>Deterministic safety controller</a:t>
            </a:r>
          </a:p>
          <a:p>
            <a:pPr algn="l"/>
            <a:r>
              <a:rPr sz="1400" b="0" i="0">
                <a:solidFill>
                  <a:srgbClr val="55606E"/>
                </a:solidFill>
                <a:latin typeface="Calibri"/>
              </a:rPr>
              <a:t>Allowlisted targets only, one experiment at a time, 30 s cap, watchdog, kill switch, rollback in every exit path.</a:t>
            </a:r>
          </a:p>
        </p:txBody>
      </p:sp>
      <p:sp>
        <p:nvSpPr>
          <p:cNvPr id="21" name="Objective number 3"/>
          <p:cNvSpPr/>
          <p:nvPr/>
        </p:nvSpPr>
        <p:spPr>
          <a:xfrm>
            <a:off x="6492240" y="4206240"/>
            <a:ext cx="457200" cy="457200"/>
          </a:xfrm>
          <a:prstGeom prst="ellipse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Objective 3"/>
          <p:cNvSpPr txBox="1"/>
          <p:nvPr/>
        </p:nvSpPr>
        <p:spPr>
          <a:xfrm>
            <a:off x="7132320" y="4169664"/>
            <a:ext cx="45107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133"/>
                </a:solidFill>
                <a:latin typeface="Calibri"/>
              </a:rPr>
              <a:t>Automated recovery verification</a:t>
            </a:r>
          </a:p>
          <a:p>
            <a:pPr algn="l"/>
            <a:r>
              <a:rPr sz="1400" b="0" i="0">
                <a:solidFill>
                  <a:srgbClr val="55606E"/>
                </a:solidFill>
                <a:latin typeface="Calibri"/>
              </a:rPr>
              <a:t>Recovered only after 3 successive fresh, advancing vehicle timestamps; otherwise latch for a human.</a:t>
            </a:r>
          </a:p>
        </p:txBody>
      </p:sp>
      <p:sp>
        <p:nvSpPr>
          <p:cNvPr id="23" name="Objective number 4"/>
          <p:cNvSpPr/>
          <p:nvPr/>
        </p:nvSpPr>
        <p:spPr>
          <a:xfrm>
            <a:off x="6492240" y="5120640"/>
            <a:ext cx="457200" cy="457200"/>
          </a:xfrm>
          <a:prstGeom prst="ellipse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Objective 4"/>
          <p:cNvSpPr txBox="1"/>
          <p:nvPr/>
        </p:nvSpPr>
        <p:spPr>
          <a:xfrm>
            <a:off x="7132320" y="5084064"/>
            <a:ext cx="45107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133"/>
                </a:solidFill>
                <a:latin typeface="Calibri"/>
              </a:rPr>
              <a:t>Universal data-quality normalization</a:t>
            </a:r>
          </a:p>
          <a:p>
            <a:pPr algn="l"/>
            <a:r>
              <a:rPr sz="1400" b="0" i="0">
                <a:solidFill>
                  <a:srgbClr val="55606E"/>
                </a:solidFill>
                <a:latin typeface="Calibri"/>
              </a:rPr>
              <a:t>One canonical UTC format for multi-region timestamps; quarantine what cannot be parsed without guessing.</a:t>
            </a:r>
          </a:p>
        </p:txBody>
      </p:sp>
      <p:sp>
        <p:nvSpPr>
          <p:cNvPr id="25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06E"/>
                </a:solidFill>
                <a:latin typeface="Calibri"/>
              </a:rPr>
              <a:t>ResiliencePilot SDV  ·  Bosch Hackathon 2026</a:t>
            </a:r>
          </a:p>
        </p:txBody>
      </p:sp>
      <p:sp>
        <p:nvSpPr>
          <p:cNvPr id="26" name="Slide 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06E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2133"/>
                </a:solidFill>
                <a:latin typeface="Cambria"/>
              </a:rPr>
              <a:t>Architecture &amp; process flow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5606E"/>
                </a:solidFill>
                <a:latin typeface="Calibri"/>
              </a:rPr>
              <a:t>Blueprint data path (unchanged) with ResiliencePilot observing and controlling it from outside</a:t>
            </a:r>
          </a:p>
        </p:txBody>
      </p:sp>
      <p:sp>
        <p:nvSpPr>
          <p:cNvPr id="4" name="Lane Vehicle edge"/>
          <p:cNvSpPr/>
          <p:nvPr/>
        </p:nvSpPr>
        <p:spPr>
          <a:xfrm>
            <a:off x="548640" y="1737360"/>
            <a:ext cx="4480560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Lane label Vehicle edge"/>
          <p:cNvSpPr txBox="1"/>
          <p:nvPr/>
        </p:nvSpPr>
        <p:spPr>
          <a:xfrm>
            <a:off x="731520" y="18470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5606E"/>
                </a:solidFill>
                <a:latin typeface="Calibri"/>
              </a:rPr>
              <a:t>VEHICLE EDGE</a:t>
            </a:r>
          </a:p>
        </p:txBody>
      </p:sp>
      <p:sp>
        <p:nvSpPr>
          <p:cNvPr id="6" name="csv-provider"/>
          <p:cNvSpPr/>
          <p:nvPr/>
        </p:nvSpPr>
        <p:spPr>
          <a:xfrm>
            <a:off x="731520" y="2286000"/>
            <a:ext cx="1188720" cy="822960"/>
          </a:xfrm>
          <a:prstGeom prst="roundRect">
            <a:avLst>
              <a:gd name="adj" fmla="val 12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sv-provider label"/>
          <p:cNvSpPr txBox="1"/>
          <p:nvPr/>
        </p:nvSpPr>
        <p:spPr>
          <a:xfrm>
            <a:off x="777240" y="2340864"/>
            <a:ext cx="10972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csv-provider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replays signals</a:t>
            </a:r>
          </a:p>
        </p:txBody>
      </p:sp>
      <p:sp>
        <p:nvSpPr>
          <p:cNvPr id="8" name="KUKSA databroker"/>
          <p:cNvSpPr/>
          <p:nvPr/>
        </p:nvSpPr>
        <p:spPr>
          <a:xfrm>
            <a:off x="2194560" y="2286000"/>
            <a:ext cx="1188720" cy="822960"/>
          </a:xfrm>
          <a:prstGeom prst="roundRect">
            <a:avLst>
              <a:gd name="adj" fmla="val 12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KUKSA databroker label"/>
          <p:cNvSpPr txBox="1"/>
          <p:nvPr/>
        </p:nvSpPr>
        <p:spPr>
          <a:xfrm>
            <a:off x="2240280" y="2340864"/>
            <a:ext cx="10972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KUKSA databroker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VSS signals</a:t>
            </a:r>
          </a:p>
        </p:txBody>
      </p:sp>
      <p:sp>
        <p:nvSpPr>
          <p:cNvPr id="10" name="fms-forwarder"/>
          <p:cNvSpPr/>
          <p:nvPr/>
        </p:nvSpPr>
        <p:spPr>
          <a:xfrm>
            <a:off x="3657600" y="2286000"/>
            <a:ext cx="1188720" cy="822960"/>
          </a:xfrm>
          <a:prstGeom prst="roundRect">
            <a:avLst>
              <a:gd name="adj" fmla="val 12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ms-forwarder label"/>
          <p:cNvSpPr txBox="1"/>
          <p:nvPr/>
        </p:nvSpPr>
        <p:spPr>
          <a:xfrm>
            <a:off x="3703320" y="2340864"/>
            <a:ext cx="10972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fms-forwarder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builds VehicleStatus</a:t>
            </a:r>
          </a:p>
        </p:txBody>
      </p:sp>
      <p:sp>
        <p:nvSpPr>
          <p:cNvPr id="12" name="Lane Transport"/>
          <p:cNvSpPr/>
          <p:nvPr/>
        </p:nvSpPr>
        <p:spPr>
          <a:xfrm>
            <a:off x="5285232" y="1737360"/>
            <a:ext cx="1554480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ane label Transport"/>
          <p:cNvSpPr txBox="1"/>
          <p:nvPr/>
        </p:nvSpPr>
        <p:spPr>
          <a:xfrm>
            <a:off x="5468112" y="18470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5606E"/>
                </a:solidFill>
                <a:latin typeface="Calibri"/>
              </a:rPr>
              <a:t>TRANSPORT</a:t>
            </a:r>
          </a:p>
        </p:txBody>
      </p:sp>
      <p:sp>
        <p:nvSpPr>
          <p:cNvPr id="14" name="Zenoh router"/>
          <p:cNvSpPr/>
          <p:nvPr/>
        </p:nvSpPr>
        <p:spPr>
          <a:xfrm>
            <a:off x="5468112" y="2286000"/>
            <a:ext cx="1188720" cy="822960"/>
          </a:xfrm>
          <a:prstGeom prst="roundRect">
            <a:avLst>
              <a:gd name="adj" fmla="val 12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Zenoh router label"/>
          <p:cNvSpPr txBox="1"/>
          <p:nvPr/>
        </p:nvSpPr>
        <p:spPr>
          <a:xfrm>
            <a:off x="5513832" y="2340864"/>
            <a:ext cx="10972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Zenoh router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edge → cloud</a:t>
            </a:r>
          </a:p>
        </p:txBody>
      </p:sp>
      <p:sp>
        <p:nvSpPr>
          <p:cNvPr id="16" name="Lane Cloud backend"/>
          <p:cNvSpPr/>
          <p:nvPr/>
        </p:nvSpPr>
        <p:spPr>
          <a:xfrm>
            <a:off x="7095744" y="1737360"/>
            <a:ext cx="4480560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ane label Cloud backend"/>
          <p:cNvSpPr txBox="1"/>
          <p:nvPr/>
        </p:nvSpPr>
        <p:spPr>
          <a:xfrm>
            <a:off x="7278624" y="18470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5606E"/>
                </a:solidFill>
                <a:latin typeface="Calibri"/>
              </a:rPr>
              <a:t>CLOUD BACKEND</a:t>
            </a:r>
          </a:p>
        </p:txBody>
      </p:sp>
      <p:sp>
        <p:nvSpPr>
          <p:cNvPr id="18" name="fms-consumer"/>
          <p:cNvSpPr/>
          <p:nvPr/>
        </p:nvSpPr>
        <p:spPr>
          <a:xfrm>
            <a:off x="7278624" y="2286000"/>
            <a:ext cx="1188720" cy="822960"/>
          </a:xfrm>
          <a:prstGeom prst="roundRect">
            <a:avLst>
              <a:gd name="adj" fmla="val 12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ms-consumer label"/>
          <p:cNvSpPr txBox="1"/>
          <p:nvPr/>
        </p:nvSpPr>
        <p:spPr>
          <a:xfrm>
            <a:off x="7324344" y="2340864"/>
            <a:ext cx="10972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fms-consumer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decodes</a:t>
            </a:r>
          </a:p>
        </p:txBody>
      </p:sp>
      <p:sp>
        <p:nvSpPr>
          <p:cNvPr id="20" name="InfluxDB"/>
          <p:cNvSpPr/>
          <p:nvPr/>
        </p:nvSpPr>
        <p:spPr>
          <a:xfrm>
            <a:off x="8741664" y="2286000"/>
            <a:ext cx="1188720" cy="822960"/>
          </a:xfrm>
          <a:prstGeom prst="roundRect">
            <a:avLst>
              <a:gd name="adj" fmla="val 12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InfluxDB label"/>
          <p:cNvSpPr txBox="1"/>
          <p:nvPr/>
        </p:nvSpPr>
        <p:spPr>
          <a:xfrm>
            <a:off x="8787384" y="2340864"/>
            <a:ext cx="10972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InfluxDB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time series</a:t>
            </a:r>
          </a:p>
        </p:txBody>
      </p:sp>
      <p:sp>
        <p:nvSpPr>
          <p:cNvPr id="22" name="fms-server"/>
          <p:cNvSpPr/>
          <p:nvPr/>
        </p:nvSpPr>
        <p:spPr>
          <a:xfrm>
            <a:off x="10204704" y="2286000"/>
            <a:ext cx="1188720" cy="822960"/>
          </a:xfrm>
          <a:prstGeom prst="roundRect">
            <a:avLst>
              <a:gd name="adj" fmla="val 12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ms-server label"/>
          <p:cNvSpPr txBox="1"/>
          <p:nvPr/>
        </p:nvSpPr>
        <p:spPr>
          <a:xfrm>
            <a:off x="10250424" y="2340864"/>
            <a:ext cx="10972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fms-server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rFMS REST API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38528" y="2697480"/>
            <a:ext cx="237744" cy="0"/>
          </a:xfrm>
          <a:prstGeom prst="line">
            <a:avLst/>
          </a:prstGeom>
          <a:ln w="25400">
            <a:solidFill>
              <a:srgbClr val="009C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01568" y="2697480"/>
            <a:ext cx="237744" cy="0"/>
          </a:xfrm>
          <a:prstGeom prst="line">
            <a:avLst/>
          </a:prstGeom>
          <a:ln w="25400">
            <a:solidFill>
              <a:srgbClr val="009C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64608" y="2697480"/>
            <a:ext cx="585216" cy="0"/>
          </a:xfrm>
          <a:prstGeom prst="line">
            <a:avLst/>
          </a:prstGeom>
          <a:ln w="25400">
            <a:solidFill>
              <a:srgbClr val="009C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675120" y="2697480"/>
            <a:ext cx="585216" cy="0"/>
          </a:xfrm>
          <a:prstGeom prst="line">
            <a:avLst/>
          </a:prstGeom>
          <a:ln w="25400">
            <a:solidFill>
              <a:srgbClr val="009C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85632" y="2697480"/>
            <a:ext cx="237744" cy="0"/>
          </a:xfrm>
          <a:prstGeom prst="line">
            <a:avLst/>
          </a:prstGeom>
          <a:ln w="25400">
            <a:solidFill>
              <a:srgbClr val="009C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948672" y="2697480"/>
            <a:ext cx="237744" cy="0"/>
          </a:xfrm>
          <a:prstGeom prst="line">
            <a:avLst/>
          </a:prstGeom>
          <a:ln w="25400">
            <a:solidFill>
              <a:srgbClr val="009C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P lane label"/>
          <p:cNvSpPr txBox="1"/>
          <p:nvPr/>
        </p:nvSpPr>
        <p:spPr>
          <a:xfrm>
            <a:off x="54864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5606E"/>
                </a:solidFill>
                <a:latin typeface="Calibri"/>
              </a:rPr>
              <a:t>RESILIENCEPILOT (local, outside the blueprint)</a:t>
            </a:r>
          </a:p>
        </p:txBody>
      </p:sp>
      <p:sp>
        <p:nvSpPr>
          <p:cNvPr id="31" name="RP Observer"/>
          <p:cNvSpPr/>
          <p:nvPr/>
        </p:nvSpPr>
        <p:spPr>
          <a:xfrm>
            <a:off x="548640" y="4343399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009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P Observer label"/>
          <p:cNvSpPr txBox="1"/>
          <p:nvPr/>
        </p:nvSpPr>
        <p:spPr>
          <a:xfrm>
            <a:off x="594360" y="4398263"/>
            <a:ext cx="251460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Observer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polls GET /rfms/vehiclestatuses, read-only</a:t>
            </a:r>
          </a:p>
        </p:txBody>
      </p:sp>
      <p:sp>
        <p:nvSpPr>
          <p:cNvPr id="33" name="RP Safety controller"/>
          <p:cNvSpPr/>
          <p:nvPr/>
        </p:nvSpPr>
        <p:spPr>
          <a:xfrm>
            <a:off x="3337560" y="4343399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P Safety controller label"/>
          <p:cNvSpPr txBox="1"/>
          <p:nvPr/>
        </p:nvSpPr>
        <p:spPr>
          <a:xfrm>
            <a:off x="3383280" y="4398263"/>
            <a:ext cx="251460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Safety controller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allowlist · lock · 30 s watchdog · guardrails</a:t>
            </a:r>
          </a:p>
        </p:txBody>
      </p:sp>
      <p:sp>
        <p:nvSpPr>
          <p:cNvPr id="35" name="RP Fault adapters"/>
          <p:cNvSpPr/>
          <p:nvPr/>
        </p:nvSpPr>
        <p:spPr>
          <a:xfrm>
            <a:off x="6126480" y="4343399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E04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P Fault adapters label"/>
          <p:cNvSpPr txBox="1"/>
          <p:nvPr/>
        </p:nvSpPr>
        <p:spPr>
          <a:xfrm>
            <a:off x="6172200" y="4398263"/>
            <a:ext cx="251460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Fault adapters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docker pause/stop on allowlisted containers</a:t>
            </a:r>
          </a:p>
        </p:txBody>
      </p:sp>
      <p:sp>
        <p:nvSpPr>
          <p:cNvPr id="37" name="RP Recovery verifier"/>
          <p:cNvSpPr/>
          <p:nvPr/>
        </p:nvSpPr>
        <p:spPr>
          <a:xfrm>
            <a:off x="8915400" y="4343399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009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P Recovery verifier label"/>
          <p:cNvSpPr txBox="1"/>
          <p:nvPr/>
        </p:nvSpPr>
        <p:spPr>
          <a:xfrm>
            <a:off x="8961120" y="4398263"/>
            <a:ext cx="251460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Recovery verifier</a:t>
            </a:r>
          </a:p>
          <a:p>
            <a:pPr algn="ctr"/>
            <a:r>
              <a:rPr sz="1000" b="0" i="0">
                <a:solidFill>
                  <a:srgbClr val="C9D6E6"/>
                </a:solidFill>
                <a:latin typeface="Calibri"/>
              </a:rPr>
              <a:t>3 fresh, advancing createdDateTime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851660" y="3108960"/>
            <a:ext cx="8947404" cy="1234439"/>
          </a:xfrm>
          <a:prstGeom prst="line">
            <a:avLst/>
          </a:prstGeom>
          <a:ln w="22225">
            <a:solidFill>
              <a:srgbClr val="009C8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4251960" y="3108960"/>
            <a:ext cx="3177540" cy="1234439"/>
          </a:xfrm>
          <a:prstGeom prst="line">
            <a:avLst/>
          </a:prstGeom>
          <a:ln w="22225">
            <a:solidFill>
              <a:srgbClr val="E04F3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Q gate frame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DQ badge"/>
          <p:cNvSpPr/>
          <p:nvPr/>
        </p:nvSpPr>
        <p:spPr>
          <a:xfrm>
            <a:off x="731520" y="5486400"/>
            <a:ext cx="502920" cy="502920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DQ</a:t>
            </a:r>
          </a:p>
        </p:txBody>
      </p:sp>
      <p:sp>
        <p:nvSpPr>
          <p:cNvPr id="43" name="DQ gate text"/>
          <p:cNvSpPr txBox="1"/>
          <p:nvPr/>
        </p:nvSpPr>
        <p:spPr>
          <a:xfrm>
            <a:off x="1417320" y="5413248"/>
            <a:ext cx="99971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42133"/>
                </a:solidFill>
                <a:latin typeface="Calibri"/>
              </a:rPr>
              <a:t>New: data-quality normalization gate before storage  </a:t>
            </a:r>
            <a:r>
              <a:rPr sz="1300" b="0" i="0">
                <a:solidFill>
                  <a:srgbClr val="55606E"/>
                </a:solidFill>
                <a:latin typeface="Calibri"/>
              </a:rPr>
              <a:t>synthetic logistics feed → normalize to UTC ISO-8601 → validate → batch policy (≤ 5 % errors: commit + quarantine; above: roll back) → SQLite clean / quarantine / audit</a:t>
            </a:r>
          </a:p>
          <a:p>
            <a:pPr algn="l"/>
            <a:r>
              <a:rPr sz="1100" b="0" i="1">
                <a:solidFill>
                  <a:srgbClr val="55606E"/>
                </a:solidFill>
                <a:latin typeface="Calibri"/>
              </a:rPr>
              <a:t>Runs alongside the real rFMS telemetry; it does not modify the blueprint's InfluxDB path.</a:t>
            </a:r>
          </a:p>
        </p:txBody>
      </p:sp>
      <p:sp>
        <p:nvSpPr>
          <p:cNvPr id="44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06E"/>
                </a:solidFill>
                <a:latin typeface="Calibri"/>
              </a:rPr>
              <a:t>ResiliencePilot SDV  ·  Bosch Hackathon 2026</a:t>
            </a:r>
          </a:p>
        </p:txBody>
      </p:sp>
      <p:sp>
        <p:nvSpPr>
          <p:cNvPr id="45" name="Slide 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06E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2133"/>
                </a:solidFill>
                <a:latin typeface="Cambria"/>
              </a:rPr>
              <a:t>Tools &amp; capabilities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5606E"/>
                </a:solidFill>
                <a:latin typeface="Calibri"/>
              </a:rPr>
              <a:t>Open-source building blocks, all running locally</a:t>
            </a:r>
          </a:p>
        </p:txBody>
      </p:sp>
      <p:graphicFrame>
        <p:nvGraphicFramePr>
          <p:cNvPr id="4" name="Tools table"/>
          <p:cNvGraphicFramePr>
            <a:graphicFrameLocks noGrp="1"/>
          </p:cNvGraphicFramePr>
          <p:nvPr/>
        </p:nvGraphicFramePr>
        <p:xfrm>
          <a:off x="548640" y="169164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5852160"/>
                <a:gridCol w="259049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137160" marR="137160" anchor="ctr">
                    <a:solidFill>
                      <a:srgbClr val="0E1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Role in ResiliencePilot</a:t>
                      </a:r>
                    </a:p>
                  </a:txBody>
                  <a:tcPr marL="137160" marR="137160" anchor="ctr">
                    <a:solidFill>
                      <a:srgbClr val="0E1A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137160" marR="137160" anchor="ctr">
                    <a:solidFill>
                      <a:srgbClr val="0E1A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3"/>
                          </a:solidFill>
                          <a:latin typeface="Calibri"/>
                        </a:rPr>
                        <a:t>Eclipse KUKSA.val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3"/>
                          </a:solidFill>
                          <a:latin typeface="Calibri"/>
                        </a:rPr>
                        <a:t>In-vehicle VSS databroker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5606E"/>
                          </a:solidFill>
                          <a:latin typeface="Calibri"/>
                        </a:rPr>
                        <a:t>Vehicle edge (blueprint)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3"/>
                          </a:solidFill>
                          <a:latin typeface="Calibri"/>
                        </a:rPr>
                        <a:t>Eclipse Zenoh</a:t>
                      </a:r>
                    </a:p>
                  </a:txBody>
                  <a:tcPr marL="137160" marR="13716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3"/>
                          </a:solidFill>
                          <a:latin typeface="Calibri"/>
                        </a:rPr>
                        <a:t>Edge-to-cloud transport</a:t>
                      </a:r>
                    </a:p>
                  </a:txBody>
                  <a:tcPr marL="137160" marR="13716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5606E"/>
                          </a:solidFill>
                          <a:latin typeface="Calibri"/>
                        </a:rPr>
                        <a:t>Transport (blueprint)</a:t>
                      </a:r>
                    </a:p>
                  </a:txBody>
                  <a:tcPr marL="137160" marR="137160" anchor="ctr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3"/>
                          </a:solidFill>
                          <a:latin typeface="Calibri"/>
                        </a:rPr>
                        <a:t>InfluxDB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3"/>
                          </a:solidFill>
                          <a:latin typeface="Calibri"/>
                        </a:rPr>
                        <a:t>Time-series storage of vehicle status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5606E"/>
                          </a:solidFill>
                          <a:latin typeface="Calibri"/>
                        </a:rPr>
                        <a:t>Cloud backend (blueprint)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3"/>
                          </a:solidFill>
                          <a:latin typeface="Calibri"/>
                        </a:rPr>
                        <a:t>FastAPI / Uvicorn</a:t>
                      </a:r>
                    </a:p>
                  </a:txBody>
                  <a:tcPr marL="137160" marR="13716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3"/>
                          </a:solidFill>
                          <a:latin typeface="Calibri"/>
                        </a:rPr>
                        <a:t>Dashboard, observer API, read-only insights</a:t>
                      </a:r>
                    </a:p>
                  </a:txBody>
                  <a:tcPr marL="137160" marR="13716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5606E"/>
                          </a:solidFill>
                          <a:latin typeface="Calibri"/>
                        </a:rPr>
                        <a:t>ResiliencePilot</a:t>
                      </a:r>
                    </a:p>
                  </a:txBody>
                  <a:tcPr marL="137160" marR="137160" anchor="ctr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3"/>
                          </a:solidFill>
                          <a:latin typeface="Calibri"/>
                        </a:rPr>
                        <a:t>Docker Compose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3"/>
                          </a:solidFill>
                          <a:latin typeface="Calibri"/>
                        </a:rPr>
                        <a:t>Isolated local sandbox; faults only on allowlisted containers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5606E"/>
                          </a:solidFill>
                          <a:latin typeface="Calibri"/>
                        </a:rPr>
                        <a:t>Sandbox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3"/>
                          </a:solidFill>
                          <a:latin typeface="Calibri"/>
                        </a:rPr>
                        <a:t>Ollama · Qwen2.5</a:t>
                      </a:r>
                    </a:p>
                  </a:txBody>
                  <a:tcPr marL="137160" marR="13716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3"/>
                          </a:solidFill>
                          <a:latin typeface="Calibri"/>
                        </a:rPr>
                        <a:t>Local advisory AI: explains and ranks, never acts</a:t>
                      </a:r>
                    </a:p>
                  </a:txBody>
                  <a:tcPr marL="137160" marR="13716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5606E"/>
                          </a:solidFill>
                          <a:latin typeface="Calibri"/>
                        </a:rPr>
                        <a:t>ResiliencePilot (advisory)</a:t>
                      </a:r>
                    </a:p>
                  </a:txBody>
                  <a:tcPr marL="137160" marR="137160" anchor="ctr"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3"/>
                          </a:solidFill>
                          <a:latin typeface="Calibri"/>
                        </a:rPr>
                        <a:t>Three.js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3"/>
                          </a:solidFill>
                          <a:latin typeface="Calibri"/>
                        </a:rPr>
                        <a:t>3D digital-twin replay of recorded runs (offline page)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5606E"/>
                          </a:solidFill>
                          <a:latin typeface="Calibri"/>
                        </a:rPr>
                        <a:t>Visualization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2133"/>
                          </a:solidFill>
                          <a:latin typeface="Calibri"/>
                        </a:rPr>
                        <a:t>SQLite</a:t>
                      </a:r>
                    </a:p>
                  </a:txBody>
                  <a:tcPr marL="137160" marR="13716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2133"/>
                          </a:solidFill>
                          <a:latin typeface="Calibri"/>
                        </a:rPr>
                        <a:t>Clean records, quarantine and batch audit of the DQ gate</a:t>
                      </a:r>
                    </a:p>
                  </a:txBody>
                  <a:tcPr marL="137160" marR="137160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55606E"/>
                          </a:solidFill>
                          <a:latin typeface="Calibri"/>
                        </a:rPr>
                        <a:t>Data-quality gate</a:t>
                      </a:r>
                    </a:p>
                  </a:txBody>
                  <a:tcPr marL="137160" marR="137160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5" name="Table note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606E"/>
                </a:solidFill>
                <a:latin typeface="Calibri"/>
              </a:rPr>
              <a:t>Blueprint components are vendored unchanged (Apache-2.0); our code adapts them through Compose overrides.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06E"/>
                </a:solidFill>
                <a:latin typeface="Calibri"/>
              </a:rPr>
              <a:t>ResiliencePilot SDV  ·  Bosch Hackathon 2026</a:t>
            </a:r>
          </a:p>
        </p:txBody>
      </p:sp>
      <p:sp>
        <p:nvSpPr>
          <p:cNvPr id="7" name="Slide 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06E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2133"/>
                </a:solidFill>
                <a:latin typeface="Cambria"/>
              </a:rPr>
              <a:t>Issues identified &amp; dual remediation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5606E"/>
                </a:solidFill>
                <a:latin typeface="Calibri"/>
              </a:rPr>
              <a:t>What we found, what the system handles on its own, and what a human follows up</a:t>
            </a:r>
          </a:p>
        </p:txBody>
      </p:sp>
      <p:sp>
        <p:nvSpPr>
          <p:cNvPr id="4" name="Column 1"/>
          <p:cNvSpPr/>
          <p:nvPr/>
        </p:nvSpPr>
        <p:spPr>
          <a:xfrm>
            <a:off x="548640" y="1691640"/>
            <a:ext cx="3515258" cy="448056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olumn icon 1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E04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6" name="Column head 1"/>
          <p:cNvSpPr txBox="1"/>
          <p:nvPr/>
        </p:nvSpPr>
        <p:spPr>
          <a:xfrm>
            <a:off x="1417320" y="1965960"/>
            <a:ext cx="25094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42133"/>
                </a:solidFill>
                <a:latin typeface="Cambria"/>
              </a:rPr>
              <a:t>Issues identified</a:t>
            </a:r>
          </a:p>
        </p:txBody>
      </p:sp>
      <p:sp>
        <p:nvSpPr>
          <p:cNvPr id="7" name="Column body 1"/>
          <p:cNvSpPr txBox="1"/>
          <p:nvPr/>
        </p:nvSpPr>
        <p:spPr>
          <a:xfrm>
            <a:off x="822960" y="2651760"/>
            <a:ext cx="3012338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42133"/>
                </a:solidFill>
                <a:latin typeface="Calibri"/>
              </a:rPr>
              <a:t>Telemetry stall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55606E"/>
                </a:solidFill>
                <a:latin typeface="Calibri"/>
              </a:rPr>
              <a:t>HTTP 200 on every fault poll while data froze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42133"/>
                </a:solidFill>
                <a:latin typeface="Calibri"/>
              </a:rPr>
              <a:t>Service crash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55606E"/>
                </a:solidFill>
                <a:latin typeface="Calibri"/>
              </a:rPr>
              <a:t>forwarder ignores SIGTERM (exit 137); same silent stale symptom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42133"/>
                </a:solidFill>
                <a:latin typeface="Calibri"/>
              </a:rPr>
              <a:t>Dependency cascade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55606E"/>
                </a:solidFill>
                <a:latin typeface="Calibri"/>
              </a:rPr>
              <a:t>stale HTTP 200 for ~21–24 s after InfluxDB returned (DNS: hypothesis)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42133"/>
                </a:solidFill>
                <a:latin typeface="Calibri"/>
              </a:rPr>
              <a:t>Timestamp formats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55606E"/>
                </a:solidFill>
                <a:latin typeface="Calibri"/>
              </a:rPr>
              <a:t>EU / US / IN / ISO / epoch mixed in one feed (synthetic)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42133"/>
                </a:solidFill>
                <a:latin typeface="Calibri"/>
              </a:rPr>
              <a:t>Future timestamps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55606E"/>
                </a:solidFill>
                <a:latin typeface="Calibri"/>
              </a:rPr>
              <a:t>records stamped ahead of system UTC (synthetic)</a:t>
            </a:r>
          </a:p>
        </p:txBody>
      </p:sp>
      <p:sp>
        <p:nvSpPr>
          <p:cNvPr id="8" name="Column 2"/>
          <p:cNvSpPr/>
          <p:nvPr/>
        </p:nvSpPr>
        <p:spPr>
          <a:xfrm>
            <a:off x="4338218" y="1691640"/>
            <a:ext cx="3515258" cy="448056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lumn icon 2"/>
          <p:cNvSpPr/>
          <p:nvPr/>
        </p:nvSpPr>
        <p:spPr>
          <a:xfrm>
            <a:off x="4566818" y="1920240"/>
            <a:ext cx="502920" cy="502920"/>
          </a:xfrm>
          <a:prstGeom prst="ellipse">
            <a:avLst/>
          </a:prstGeom>
          <a:solidFill>
            <a:srgbClr val="009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10" name="Column head 2"/>
          <p:cNvSpPr txBox="1"/>
          <p:nvPr/>
        </p:nvSpPr>
        <p:spPr>
          <a:xfrm>
            <a:off x="5206898" y="1965960"/>
            <a:ext cx="25094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42133"/>
                </a:solidFill>
                <a:latin typeface="Cambria"/>
              </a:rPr>
              <a:t>Automated handling</a:t>
            </a:r>
          </a:p>
        </p:txBody>
      </p:sp>
      <p:sp>
        <p:nvSpPr>
          <p:cNvPr id="11" name="Column body 2"/>
          <p:cNvSpPr txBox="1"/>
          <p:nvPr/>
        </p:nvSpPr>
        <p:spPr>
          <a:xfrm>
            <a:off x="4612538" y="2651760"/>
            <a:ext cx="3012338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42133"/>
                </a:solidFill>
                <a:latin typeface="Calibri"/>
              </a:rPr>
              <a:t>30 s watchdog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55606E"/>
                </a:solidFill>
                <a:latin typeface="Calibri"/>
              </a:rPr>
              <a:t>independent thread enforces the fault deadline and rollback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42133"/>
                </a:solidFill>
                <a:latin typeface="Calibri"/>
              </a:rPr>
              <a:t>Recovery gate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55606E"/>
                </a:solidFill>
                <a:latin typeface="Calibri"/>
              </a:rPr>
              <a:t>3 consecutive fresh, advancing timestamps, or LATCHED_UNSAFE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42133"/>
                </a:solidFill>
                <a:latin typeface="Calibri"/>
              </a:rPr>
              <a:t>5 % batch policy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55606E"/>
                </a:solidFill>
                <a:latin typeface="Calibri"/>
              </a:rPr>
              <a:t>≤ 5 % bad: commit + quarantine; above: roll back the batch</a:t>
            </a:r>
          </a:p>
        </p:txBody>
      </p:sp>
      <p:sp>
        <p:nvSpPr>
          <p:cNvPr id="12" name="Column 3"/>
          <p:cNvSpPr/>
          <p:nvPr/>
        </p:nvSpPr>
        <p:spPr>
          <a:xfrm>
            <a:off x="8127796" y="1691640"/>
            <a:ext cx="3515258" cy="448056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olumn icon 3"/>
          <p:cNvSpPr/>
          <p:nvPr/>
        </p:nvSpPr>
        <p:spPr>
          <a:xfrm>
            <a:off x="8356396" y="1920240"/>
            <a:ext cx="502920" cy="502920"/>
          </a:xfrm>
          <a:prstGeom prst="ellipse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✎</a:t>
            </a:r>
          </a:p>
        </p:txBody>
      </p:sp>
      <p:sp>
        <p:nvSpPr>
          <p:cNvPr id="14" name="Column head 3"/>
          <p:cNvSpPr txBox="1"/>
          <p:nvPr/>
        </p:nvSpPr>
        <p:spPr>
          <a:xfrm>
            <a:off x="8996476" y="1965960"/>
            <a:ext cx="25094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42133"/>
                </a:solidFill>
                <a:latin typeface="Cambria"/>
              </a:rPr>
              <a:t>Manual follow-up</a:t>
            </a:r>
          </a:p>
        </p:txBody>
      </p:sp>
      <p:sp>
        <p:nvSpPr>
          <p:cNvPr id="15" name="Column body 3"/>
          <p:cNvSpPr txBox="1"/>
          <p:nvPr/>
        </p:nvSpPr>
        <p:spPr>
          <a:xfrm>
            <a:off x="8402116" y="2651760"/>
            <a:ext cx="3012338" cy="342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42133"/>
                </a:solidFill>
                <a:latin typeface="Calibri"/>
              </a:rPr>
              <a:t>AI analyst playbooks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55606E"/>
                </a:solidFill>
                <a:latin typeface="Calibri"/>
              </a:rPr>
              <a:t>verify → mitigate → fix; advisory only, checked vs evidence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42133"/>
                </a:solidFill>
                <a:latin typeface="Calibri"/>
              </a:rPr>
              <a:t>Quarantine review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55606E"/>
                </a:solidFill>
                <a:latin typeface="Calibri"/>
              </a:rPr>
              <a:t>operator inspects reason codes; rolled-back batches flagged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42133"/>
                </a:solidFill>
                <a:latin typeface="Calibri"/>
              </a:rPr>
              <a:t>Logged reset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55606E"/>
                </a:solidFill>
                <a:latin typeface="Calibri"/>
              </a:rPr>
              <a:t>a human clears LATCHED_UNSAFE after checking the stack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06E"/>
                </a:solidFill>
                <a:latin typeface="Calibri"/>
              </a:rPr>
              <a:t>ResiliencePilot SDV  ·  Bosch Hackathon 2026</a:t>
            </a:r>
          </a:p>
        </p:txBody>
      </p:sp>
      <p:sp>
        <p:nvSpPr>
          <p:cNvPr id="17" name="Slide 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06E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Demo, results &amp; resilience score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9D6E6"/>
                </a:solidFill>
                <a:latin typeface="Calibri"/>
              </a:rPr>
              <a:t>All numbers from recorded runs and the test suite</a:t>
            </a:r>
          </a:p>
        </p:txBody>
      </p:sp>
      <p:sp>
        <p:nvSpPr>
          <p:cNvPr id="4" name="Stat card 1"/>
          <p:cNvSpPr/>
          <p:nvPr/>
        </p:nvSpPr>
        <p:spPr>
          <a:xfrm>
            <a:off x="548640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Stat 1"/>
          <p:cNvSpPr txBox="1"/>
          <p:nvPr/>
        </p:nvSpPr>
        <p:spPr>
          <a:xfrm>
            <a:off x="822960" y="1920240"/>
            <a:ext cx="29666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5FD6C8"/>
                </a:solidFill>
                <a:latin typeface="Cambria"/>
              </a:rPr>
              <a:t>37</a:t>
            </a:r>
          </a:p>
        </p:txBody>
      </p:sp>
      <p:sp>
        <p:nvSpPr>
          <p:cNvPr id="6" name="Stat label 1"/>
          <p:cNvSpPr txBox="1"/>
          <p:nvPr/>
        </p:nvSpPr>
        <p:spPr>
          <a:xfrm>
            <a:off x="822960" y="2880360"/>
            <a:ext cx="2966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recorded experiment runs</a:t>
            </a:r>
          </a:p>
        </p:txBody>
      </p:sp>
      <p:sp>
        <p:nvSpPr>
          <p:cNvPr id="7" name="Stat source 1"/>
          <p:cNvSpPr txBox="1"/>
          <p:nvPr/>
        </p:nvSpPr>
        <p:spPr>
          <a:xfrm>
            <a:off x="822960" y="3246120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9D6E6"/>
                </a:solidFill>
                <a:latin typeface="Calibri"/>
              </a:rPr>
              <a:t>reports/day1 · day2 · guardrail-demo</a:t>
            </a:r>
          </a:p>
        </p:txBody>
      </p:sp>
      <p:sp>
        <p:nvSpPr>
          <p:cNvPr id="8" name="Stat card 2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at 2"/>
          <p:cNvSpPr txBox="1"/>
          <p:nvPr/>
        </p:nvSpPr>
        <p:spPr>
          <a:xfrm>
            <a:off x="4612538" y="1920240"/>
            <a:ext cx="29666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5FD6C8"/>
                </a:solidFill>
                <a:latin typeface="Cambria"/>
              </a:rPr>
              <a:t>396</a:t>
            </a:r>
          </a:p>
        </p:txBody>
      </p:sp>
      <p:sp>
        <p:nvSpPr>
          <p:cNvPr id="10" name="Stat label 2"/>
          <p:cNvSpPr txBox="1"/>
          <p:nvPr/>
        </p:nvSpPr>
        <p:spPr>
          <a:xfrm>
            <a:off x="4612538" y="2880360"/>
            <a:ext cx="2966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unit tests passing</a:t>
            </a:r>
          </a:p>
        </p:txBody>
      </p:sp>
      <p:sp>
        <p:nvSpPr>
          <p:cNvPr id="11" name="Stat source 2"/>
          <p:cNvSpPr txBox="1"/>
          <p:nvPr/>
        </p:nvSpPr>
        <p:spPr>
          <a:xfrm>
            <a:off x="4612538" y="3246120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9D6E6"/>
                </a:solidFill>
                <a:latin typeface="Calibri"/>
              </a:rPr>
              <a:t>317 core + 79 data quality · 11 live skipped</a:t>
            </a:r>
          </a:p>
        </p:txBody>
      </p:sp>
      <p:sp>
        <p:nvSpPr>
          <p:cNvPr id="12" name="Stat card 3"/>
          <p:cNvSpPr/>
          <p:nvPr/>
        </p:nvSpPr>
        <p:spPr>
          <a:xfrm>
            <a:off x="8127796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at 3"/>
          <p:cNvSpPr txBox="1"/>
          <p:nvPr/>
        </p:nvSpPr>
        <p:spPr>
          <a:xfrm>
            <a:off x="8402116" y="1920240"/>
            <a:ext cx="29666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5FD6C8"/>
                </a:solidFill>
                <a:latin typeface="Cambria"/>
              </a:rPr>
              <a:t>62.65</a:t>
            </a:r>
          </a:p>
        </p:txBody>
      </p:sp>
      <p:sp>
        <p:nvSpPr>
          <p:cNvPr id="14" name="Stat label 3"/>
          <p:cNvSpPr txBox="1"/>
          <p:nvPr/>
        </p:nvSpPr>
        <p:spPr>
          <a:xfrm>
            <a:off x="8402116" y="2880360"/>
            <a:ext cx="2966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median Resilience Score</a:t>
            </a:r>
          </a:p>
        </p:txBody>
      </p:sp>
      <p:sp>
        <p:nvSpPr>
          <p:cNvPr id="15" name="Stat source 3"/>
          <p:cNvSpPr txBox="1"/>
          <p:nvPr/>
        </p:nvSpPr>
        <p:spPr>
          <a:xfrm>
            <a:off x="8402116" y="3246120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9D6E6"/>
                </a:solidFill>
                <a:latin typeface="Calibri"/>
              </a:rPr>
              <a:t>10 full-window Day-2 runs · stall 62.2 · crash 65.1 · InfluxDB 61.6</a:t>
            </a:r>
          </a:p>
        </p:txBody>
      </p:sp>
      <p:sp>
        <p:nvSpPr>
          <p:cNvPr id="16" name="Video panel"/>
          <p:cNvSpPr/>
          <p:nvPr/>
        </p:nvSpPr>
        <p:spPr>
          <a:xfrm>
            <a:off x="548640" y="4206240"/>
            <a:ext cx="11094415" cy="1737360"/>
          </a:xfrm>
          <a:prstGeom prst="roundRect">
            <a:avLst>
              <a:gd name="adj" fmla="val 6000"/>
            </a:avLst>
          </a:prstGeom>
          <a:solidFill>
            <a:srgbClr val="18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lay button">
            <a:hlinkClick r:id="rId2"/>
          </p:cNvPr>
          <p:cNvSpPr/>
          <p:nvPr/>
        </p:nvSpPr>
        <p:spPr>
          <a:xfrm>
            <a:off x="868680" y="4572000"/>
            <a:ext cx="1005840" cy="1005840"/>
          </a:xfrm>
          <a:prstGeom prst="ellipse">
            <a:avLst/>
          </a:prstGeom>
          <a:solidFill>
            <a:srgbClr val="E04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lay glyph">
            <a:hlinkClick r:id="rId2"/>
          </p:cNvPr>
          <p:cNvSpPr/>
          <p:nvPr/>
        </p:nvSpPr>
        <p:spPr>
          <a:xfrm rot="5400000">
            <a:off x="1234440" y="4864608"/>
            <a:ext cx="384048" cy="420624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Video text"/>
          <p:cNvSpPr txBox="1"/>
          <p:nvPr/>
        </p:nvSpPr>
        <p:spPr>
          <a:xfrm>
            <a:off x="2194560" y="4526280"/>
            <a:ext cx="9326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2-minute demo video  </a:t>
            </a:r>
            <a:r>
              <a:rPr sz="1400" b="0" i="1">
                <a:solidFill>
                  <a:srgbClr val="C9D6E6"/>
                </a:solidFill>
                <a:latin typeface="Calibri"/>
              </a:rPr>
              <a:t>link added at submission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D6E6"/>
                </a:solidFill>
                <a:latin typeface="Calibri"/>
              </a:rPr>
              <a:t>Script: </a:t>
            </a:r>
            <a:r>
              <a:rPr sz="1400" b="0" i="0">
                <a:solidFill>
                  <a:srgbClr val="5FD6C8"/>
                </a:solidFill>
                <a:latin typeface="Calibri"/>
                <a:hlinkClick r:id="rId2"/>
              </a:rPr>
              <a:t>docs/demo/VIDEO_SCRIPT.md</a:t>
            </a:r>
            <a:r>
              <a:rPr sz="1400" b="0" i="0">
                <a:solidFill>
                  <a:srgbClr val="C9D6E6"/>
                </a:solidFill>
                <a:latin typeface="Calibri"/>
              </a:rPr>
              <a:t>   ·   Local walkthrough: </a:t>
            </a:r>
            <a:r>
              <a:rPr sz="1400" b="0" i="0">
                <a:solidFill>
                  <a:srgbClr val="5FD6C8"/>
                </a:solidFill>
                <a:latin typeface="Calibri"/>
                <a:hlinkClick r:id="rId3"/>
              </a:rPr>
              <a:t>docs/scene/index.html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D6E6"/>
                </a:solidFill>
                <a:latin typeface="Calibri"/>
              </a:rPr>
              <a:t>Repository: </a:t>
            </a:r>
            <a:r>
              <a:rPr sz="1400" b="0" i="0">
                <a:solidFill>
                  <a:srgbClr val="5FD6C8"/>
                </a:solidFill>
                <a:latin typeface="Calibri"/>
                <a:hlinkClick r:id="rId4"/>
              </a:rPr>
              <a:t>https://github.com/Anshu-raj-co/ResiliencePilot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ResiliencePilot SDV  ·  Bosch Hackathon 2026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9D6E6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ResiliencePilot SDV</dc:title>
  <dc:subject>HTTP 200 is not recovery. Fresh data is.</dc:subject>
  <dc:creator>ResiliencePilot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