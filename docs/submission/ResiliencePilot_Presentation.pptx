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a fleet API that says 200 is not proof that the trucks' data is fresh. We built a workbench that proves the gap on the real Eclipse SDV blueprint and only ever declares recovery from fresh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receivedDateTime always looks fresh because the server stamps it at request time. createdDateTime comes from the vehicle side; when it stops advancing the fleet is blind, yet the API still says 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Seven-hop telemetry journey. The forwarder stamps createdDateTime; the server answers the rFMS API. We never edit the blueprint: everything is adapted through a Compose override.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Pipeline: the AI proposes, a human approves, and only the deterministic controller touches Docker. Six controls; every one has negative-path tests and live evidence in reports/.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open source and local. The AI model runs on the laptop over loopback and has no access to the shell, Docker or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= HTTP 200 while telemetry is frozen (stall, crash). V2 = stale HTTP 200 for 21–24 s after the database recovered. The DNS explanation is a hypothesis; the logs and timings are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run in the demo video (2b1f95, approved by Nishant Tripathi): stale detected 4.99 s after injection, recovery verified 3.78 s after rollback, score 47.6. The latency guard was proven with a deliberately tight 30 ms cap (tripped at 1.88 s); it proves the abort path, not a real slowdown.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HTTP 200 is not recovery, fresh data is. Everything shown in the video is the real stack; the live run is 2b1f95. Repository: https://github.com/Anshu-raj-co/ResiliencePilot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4572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FD6C8"/>
                </a:solidFill>
                <a:latin typeface="Calibri"/>
              </a:rPr>
              <a:t>BOSCH HACKATHON 2026  ·  TEAM 26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82296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ResiliencePilot SDV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164592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9D6E6"/>
                </a:solidFill>
                <a:latin typeface="Calibri"/>
              </a:rPr>
              <a:t>AI-Driven Chaos Engineering for Cloud-Native Fleet Resilience</a:t>
            </a:r>
          </a:p>
        </p:txBody>
      </p:sp>
      <p:sp>
        <p:nvSpPr>
          <p:cNvPr id="5" name="Punchline"/>
          <p:cNvSpPr txBox="1"/>
          <p:nvPr/>
        </p:nvSpPr>
        <p:spPr>
          <a:xfrm>
            <a:off x="502920" y="23317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FD6C8"/>
                </a:solidFill>
                <a:latin typeface="Cambria"/>
              </a:rPr>
              <a:t>“HTTP 200 is not recovery. Fresh data is.”</a:t>
            </a:r>
          </a:p>
        </p:txBody>
      </p:sp>
      <p:sp>
        <p:nvSpPr>
          <p:cNvPr id="6" name="Core message"/>
          <p:cNvSpPr txBox="1"/>
          <p:nvPr/>
        </p:nvSpPr>
        <p:spPr>
          <a:xfrm>
            <a:off x="502920" y="29260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6"/>
                </a:solidFill>
                <a:latin typeface="Calibri"/>
              </a:rPr>
              <a:t>A local resilience workbench and deterministic safety controller for the Eclipse SDV Fleet Management Blueprint: it injects bounded, reversible faults and proves recovery from advancing vehicle telemetry.</a:t>
            </a:r>
          </a:p>
        </p:txBody>
      </p:sp>
      <p:sp>
        <p:nvSpPr>
          <p:cNvPr id="7" name="Team card"/>
          <p:cNvSpPr/>
          <p:nvPr/>
        </p:nvSpPr>
        <p:spPr>
          <a:xfrm>
            <a:off x="502920" y="388620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am header"/>
          <p:cNvSpPr txBox="1"/>
          <p:nvPr/>
        </p:nvSpPr>
        <p:spPr>
          <a:xfrm>
            <a:off x="731520" y="405079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Team ResiliencePilot  ·  Team No. 26</a:t>
            </a:r>
          </a:p>
          <a:p>
            <a:pPr algn="l"/>
            <a:r>
              <a:rPr sz="1200" b="0" i="0">
                <a:solidFill>
                  <a:srgbClr val="C9D6E6"/>
                </a:solidFill>
                <a:latin typeface="Calibri"/>
              </a:rPr>
              <a:t>Manipal Institute of Technology, Bengaluru  ·  Batch of 2027</a:t>
            </a:r>
          </a:p>
        </p:txBody>
      </p:sp>
      <p:sp>
        <p:nvSpPr>
          <p:cNvPr id="9" name="Initials 1"/>
          <p:cNvSpPr/>
          <p:nvPr/>
        </p:nvSpPr>
        <p:spPr>
          <a:xfrm>
            <a:off x="731520" y="4663440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VR</a:t>
            </a:r>
          </a:p>
        </p:txBody>
      </p:sp>
      <p:sp>
        <p:nvSpPr>
          <p:cNvPr id="10" name="Member 1"/>
          <p:cNvSpPr txBox="1"/>
          <p:nvPr/>
        </p:nvSpPr>
        <p:spPr>
          <a:xfrm>
            <a:off x="1207008" y="46451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Vaibhav Raghav</a:t>
            </a:r>
          </a:p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Lead &amp; Safety Architecture</a:t>
            </a:r>
          </a:p>
        </p:txBody>
      </p:sp>
      <p:sp>
        <p:nvSpPr>
          <p:cNvPr id="11" name="Initials 2"/>
          <p:cNvSpPr/>
          <p:nvPr/>
        </p:nvSpPr>
        <p:spPr>
          <a:xfrm>
            <a:off x="3383280" y="4663440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12" name="Member 2"/>
          <p:cNvSpPr txBox="1"/>
          <p:nvPr/>
        </p:nvSpPr>
        <p:spPr>
          <a:xfrm>
            <a:off x="3858768" y="46451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Anshu Raj</a:t>
            </a:r>
          </a:p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Full-Stack &amp; Observability</a:t>
            </a:r>
          </a:p>
        </p:txBody>
      </p:sp>
      <p:sp>
        <p:nvSpPr>
          <p:cNvPr id="13" name="Initials 3"/>
          <p:cNvSpPr/>
          <p:nvPr/>
        </p:nvSpPr>
        <p:spPr>
          <a:xfrm>
            <a:off x="731520" y="5193792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NT</a:t>
            </a:r>
          </a:p>
        </p:txBody>
      </p:sp>
      <p:sp>
        <p:nvSpPr>
          <p:cNvPr id="14" name="Member 3"/>
          <p:cNvSpPr txBox="1"/>
          <p:nvPr/>
        </p:nvSpPr>
        <p:spPr>
          <a:xfrm>
            <a:off x="1207008" y="517550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Nishant Tripathi</a:t>
            </a:r>
          </a:p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Systems &amp; Chaos Engineering</a:t>
            </a:r>
          </a:p>
        </p:txBody>
      </p:sp>
      <p:sp>
        <p:nvSpPr>
          <p:cNvPr id="15" name="Initials 4"/>
          <p:cNvSpPr/>
          <p:nvPr/>
        </p:nvSpPr>
        <p:spPr>
          <a:xfrm>
            <a:off x="3383280" y="5193792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16" name="Member 4"/>
          <p:cNvSpPr txBox="1"/>
          <p:nvPr/>
        </p:nvSpPr>
        <p:spPr>
          <a:xfrm>
            <a:off x="3858768" y="517550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Jahnavi</a:t>
            </a:r>
          </a:p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Data Pipelines &amp; Analytics</a:t>
            </a:r>
          </a:p>
        </p:txBody>
      </p:sp>
      <p:sp>
        <p:nvSpPr>
          <p:cNvPr id="17" name="Initials 5"/>
          <p:cNvSpPr/>
          <p:nvPr/>
        </p:nvSpPr>
        <p:spPr>
          <a:xfrm>
            <a:off x="731520" y="5724144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8" name="Member 5"/>
          <p:cNvSpPr txBox="1"/>
          <p:nvPr/>
        </p:nvSpPr>
        <p:spPr>
          <a:xfrm>
            <a:off x="1207008" y="570585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Samhithaa</a:t>
            </a:r>
          </a:p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Validation &amp; Test Automation</a:t>
            </a:r>
          </a:p>
        </p:txBody>
      </p:sp>
      <p:pic>
        <p:nvPicPr>
          <p:cNvPr id="19" name="Hero 3D digital twin" descr="layout-retina-2x-1280x800.png"/>
          <p:cNvPicPr>
            <a:picLocks noChangeAspect="1"/>
          </p:cNvPicPr>
          <p:nvPr/>
        </p:nvPicPr>
        <p:blipFill>
          <a:blip r:embed="rId2"/>
          <a:srcRect l="23500" b="13965"/>
          <a:stretch>
            <a:fillRect/>
          </a:stretch>
        </p:blipFill>
        <p:spPr>
          <a:xfrm>
            <a:off x="6355080" y="822960"/>
            <a:ext cx="5333695" cy="3749039"/>
          </a:xfrm>
          <a:prstGeom prst="rect">
            <a:avLst/>
          </a:prstGeom>
          <a:ln w="9525">
            <a:solidFill>
              <a:srgbClr val="182A42"/>
            </a:solidFill>
          </a:ln>
        </p:spPr>
      </p:pic>
      <p:sp>
        <p:nvSpPr>
          <p:cNvPr id="20" name="Caption"/>
          <p:cNvSpPr txBox="1"/>
          <p:nvPr/>
        </p:nvSpPr>
        <p:spPr>
          <a:xfrm>
            <a:off x="6355080" y="4645152"/>
            <a:ext cx="5333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D6E6"/>
                </a:solidFill>
                <a:latin typeface="Calibri"/>
              </a:rPr>
              <a:t>Offline 3D digital twin replaying a recorded telemetry_stall run (docs/scene/index.html)</a:t>
            </a:r>
          </a:p>
        </p:txBody>
      </p:sp>
      <p:sp>
        <p:nvSpPr>
          <p:cNvPr id="21" name="Hero stat 1"/>
          <p:cNvSpPr/>
          <p:nvPr/>
        </p:nvSpPr>
        <p:spPr>
          <a:xfrm>
            <a:off x="6355080" y="5074920"/>
            <a:ext cx="1264843" cy="118872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Hero stat value 1"/>
          <p:cNvSpPr txBox="1"/>
          <p:nvPr/>
        </p:nvSpPr>
        <p:spPr>
          <a:xfrm>
            <a:off x="6492240" y="5166360"/>
            <a:ext cx="990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FD6C8"/>
                </a:solidFill>
                <a:latin typeface="Cambria"/>
              </a:rPr>
              <a:t>37</a:t>
            </a:r>
          </a:p>
        </p:txBody>
      </p:sp>
      <p:sp>
        <p:nvSpPr>
          <p:cNvPr id="23" name="Hero stat label 1"/>
          <p:cNvSpPr txBox="1"/>
          <p:nvPr/>
        </p:nvSpPr>
        <p:spPr>
          <a:xfrm>
            <a:off x="6492240" y="5715000"/>
            <a:ext cx="9905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recorded runs</a:t>
            </a:r>
          </a:p>
        </p:txBody>
      </p:sp>
      <p:sp>
        <p:nvSpPr>
          <p:cNvPr id="24" name="Hero stat 2"/>
          <p:cNvSpPr/>
          <p:nvPr/>
        </p:nvSpPr>
        <p:spPr>
          <a:xfrm>
            <a:off x="7711363" y="5074920"/>
            <a:ext cx="1264843" cy="118872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Hero stat value 2"/>
          <p:cNvSpPr txBox="1"/>
          <p:nvPr/>
        </p:nvSpPr>
        <p:spPr>
          <a:xfrm>
            <a:off x="7848523" y="5166360"/>
            <a:ext cx="990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FD6C8"/>
                </a:solidFill>
                <a:latin typeface="Cambria"/>
              </a:rPr>
              <a:t>396</a:t>
            </a:r>
          </a:p>
        </p:txBody>
      </p:sp>
      <p:sp>
        <p:nvSpPr>
          <p:cNvPr id="26" name="Hero stat label 2"/>
          <p:cNvSpPr txBox="1"/>
          <p:nvPr/>
        </p:nvSpPr>
        <p:spPr>
          <a:xfrm>
            <a:off x="7848523" y="5715000"/>
            <a:ext cx="9905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tests passing</a:t>
            </a:r>
          </a:p>
        </p:txBody>
      </p:sp>
      <p:sp>
        <p:nvSpPr>
          <p:cNvPr id="27" name="Hero stat 3"/>
          <p:cNvSpPr/>
          <p:nvPr/>
        </p:nvSpPr>
        <p:spPr>
          <a:xfrm>
            <a:off x="9067647" y="5074920"/>
            <a:ext cx="1264843" cy="118872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Hero stat value 3"/>
          <p:cNvSpPr txBox="1"/>
          <p:nvPr/>
        </p:nvSpPr>
        <p:spPr>
          <a:xfrm>
            <a:off x="9204807" y="5166360"/>
            <a:ext cx="990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FD6C8"/>
                </a:solidFill>
                <a:latin typeface="Cambria"/>
              </a:rPr>
              <a:t>3</a:t>
            </a:r>
          </a:p>
        </p:txBody>
      </p:sp>
      <p:sp>
        <p:nvSpPr>
          <p:cNvPr id="29" name="Hero stat label 3"/>
          <p:cNvSpPr txBox="1"/>
          <p:nvPr/>
        </p:nvSpPr>
        <p:spPr>
          <a:xfrm>
            <a:off x="9204807" y="5715000"/>
            <a:ext cx="9905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reversible fault types</a:t>
            </a:r>
          </a:p>
        </p:txBody>
      </p:sp>
      <p:sp>
        <p:nvSpPr>
          <p:cNvPr id="30" name="Hero stat 4"/>
          <p:cNvSpPr/>
          <p:nvPr/>
        </p:nvSpPr>
        <p:spPr>
          <a:xfrm>
            <a:off x="10423931" y="5074920"/>
            <a:ext cx="1264843" cy="118872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Hero stat value 4"/>
          <p:cNvSpPr txBox="1"/>
          <p:nvPr/>
        </p:nvSpPr>
        <p:spPr>
          <a:xfrm>
            <a:off x="10561091" y="5166360"/>
            <a:ext cx="990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FD6C8"/>
                </a:solidFill>
                <a:latin typeface="Cambria"/>
              </a:rPr>
              <a:t>30 s</a:t>
            </a:r>
          </a:p>
        </p:txBody>
      </p:sp>
      <p:sp>
        <p:nvSpPr>
          <p:cNvPr id="32" name="Hero stat label 4"/>
          <p:cNvSpPr txBox="1"/>
          <p:nvPr/>
        </p:nvSpPr>
        <p:spPr>
          <a:xfrm>
            <a:off x="10561091" y="5715000"/>
            <a:ext cx="9905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hard cap per fault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34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9D6E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8C80"/>
                </a:solidFill>
                <a:latin typeface="Calibri"/>
              </a:rPr>
              <a:t>PROBLEM UNDERSTANDING &amp; APPROACH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2133"/>
                </a:solidFill>
                <a:latin typeface="Cambria"/>
              </a:rPr>
              <a:t>The “Illusion of Health”: HTTP 200 hides frozen vehicles</a:t>
            </a:r>
          </a:p>
        </p:txBody>
      </p:sp>
      <p:sp>
        <p:nvSpPr>
          <p:cNvPr id="4" name="Flaw head"/>
          <p:cNvSpPr txBox="1"/>
          <p:nvPr/>
        </p:nvSpPr>
        <p:spPr>
          <a:xfrm>
            <a:off x="502920" y="1280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133"/>
                </a:solidFill>
                <a:latin typeface="Cambria"/>
              </a:rPr>
              <a:t>The flaw in standard monitoring</a:t>
            </a:r>
          </a:p>
        </p:txBody>
      </p:sp>
      <p:sp>
        <p:nvSpPr>
          <p:cNvPr id="5" name="Flaw bullets"/>
          <p:cNvSpPr txBox="1"/>
          <p:nvPr/>
        </p:nvSpPr>
        <p:spPr>
          <a:xfrm>
            <a:off x="502920" y="1691640"/>
            <a:ext cx="5577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4834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Health checks look at </a:t>
            </a:r>
            <a:r>
              <a:rPr sz="1200" b="1" i="0">
                <a:solidFill>
                  <a:srgbClr val="142133"/>
                </a:solidFill>
                <a:latin typeface="Courier New"/>
              </a:rPr>
              <a:t>docker ps = Up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 and </a:t>
            </a:r>
            <a:r>
              <a:rPr sz="1200" b="1" i="0">
                <a:solidFill>
                  <a:srgbClr val="142133"/>
                </a:solidFill>
                <a:latin typeface="Courier New"/>
              </a:rPr>
              <a:t>HTTP 200 OK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4834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We proved the Eclipse SDV rFMS API keeps answering </a:t>
            </a:r>
            <a:r>
              <a:rPr sz="1200" b="1" i="0">
                <a:solidFill>
                  <a:srgbClr val="142133"/>
                </a:solidFill>
                <a:latin typeface="Courier New"/>
              </a:rPr>
              <a:t>HTTP 200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 while vehicle telemetry is frozen.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4834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Root cause: </a:t>
            </a:r>
            <a:r>
              <a:rPr sz="1200" b="1" i="0">
                <a:solidFill>
                  <a:srgbClr val="142133"/>
                </a:solidFill>
                <a:latin typeface="Courier New"/>
              </a:rPr>
              <a:t>receivedDateTime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 is the cloud server's clock; </a:t>
            </a:r>
            <a:r>
              <a:rPr sz="1200" b="1" i="0">
                <a:solidFill>
                  <a:srgbClr val="142133"/>
                </a:solidFill>
                <a:latin typeface="Courier New"/>
              </a:rPr>
              <a:t>createdDateTime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 is stamped on the vehicle side.</a:t>
            </a:r>
          </a:p>
        </p:txBody>
      </p:sp>
      <p:sp>
        <p:nvSpPr>
          <p:cNvPr id="6" name="Approach card"/>
          <p:cNvSpPr/>
          <p:nvPr/>
        </p:nvSpPr>
        <p:spPr>
          <a:xfrm>
            <a:off x="502920" y="3063240"/>
            <a:ext cx="5577840" cy="1417320"/>
          </a:xfrm>
          <a:prstGeom prst="roundRect">
            <a:avLst>
              <a:gd name="adj" fmla="val 6000"/>
            </a:avLst>
          </a:prstGeom>
          <a:solidFill>
            <a:srgbClr val="E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Approach text"/>
          <p:cNvSpPr txBox="1"/>
          <p:nvPr/>
        </p:nvSpPr>
        <p:spPr>
          <a:xfrm>
            <a:off x="731520" y="3200400"/>
            <a:ext cx="5120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8C80"/>
                </a:solidFill>
                <a:latin typeface="Calibri"/>
              </a:rPr>
              <a:t>Our approach: an independent black-box observer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Polls the API like a client every 0.5 s and computes true data age = </a:t>
            </a:r>
            <a:r>
              <a:rPr sz="1100" b="1" i="0">
                <a:solidFill>
                  <a:srgbClr val="142133"/>
                </a:solidFill>
                <a:latin typeface="Courier New"/>
              </a:rPr>
              <a:t>server_time − createdDateTime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. Older than 5 s → STALE, even under HTTP 200. Faults run only through a deterministic safety controller; recovery needs 3 fresh, advancing vehicle timestamps.</a:t>
            </a:r>
          </a:p>
        </p:txBody>
      </p:sp>
      <p:sp>
        <p:nvSpPr>
          <p:cNvPr id="8" name="AI card"/>
          <p:cNvSpPr/>
          <p:nvPr/>
        </p:nvSpPr>
        <p:spPr>
          <a:xfrm>
            <a:off x="502920" y="4617720"/>
            <a:ext cx="5577840" cy="15087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I text"/>
          <p:cNvSpPr txBox="1"/>
          <p:nvPr/>
        </p:nvSpPr>
        <p:spPr>
          <a:xfrm>
            <a:off x="731520" y="4754880"/>
            <a:ext cx="51206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6A4CB8"/>
                </a:solidFill>
                <a:latin typeface="Calibri"/>
              </a:rPr>
              <a:t>How AI is used (advisory only)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42133"/>
                </a:solidFill>
                <a:latin typeface="Calibri"/>
              </a:rPr>
              <a:t>Plan: 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a local Qwen2.5 model may only reorder the rule-based, allowlisted experiment ranking.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42133"/>
                </a:solidFill>
                <a:latin typeface="Calibri"/>
              </a:rPr>
              <a:t>Analyze: 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it drafts root causes and verify / mitigate / fix playbooks; a grounding check rejects anything the evidence does not support. It never executes anything.</a:t>
            </a:r>
          </a:p>
        </p:txBody>
      </p:sp>
      <p:pic>
        <p:nvPicPr>
          <p:cNvPr id="10" name="Explainer chart" descr="explainer-chart.png"/>
          <p:cNvPicPr>
            <a:picLocks noChangeAspect="1"/>
          </p:cNvPicPr>
          <p:nvPr/>
        </p:nvPicPr>
        <p:blipFill>
          <a:blip r:embed="rId2"/>
          <a:srcRect l="3992" t="10000" r="3992" b="32000"/>
          <a:stretch>
            <a:fillRect/>
          </a:stretch>
        </p:blipFill>
        <p:spPr>
          <a:xfrm>
            <a:off x="6446520" y="1325880"/>
            <a:ext cx="5242255" cy="242316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1" name="Caption"/>
          <p:cNvSpPr txBox="1"/>
          <p:nvPr/>
        </p:nvSpPr>
        <p:spPr>
          <a:xfrm>
            <a:off x="6446520" y="3840480"/>
            <a:ext cx="5242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Run 3155f1: data age climbs past 5 s while every poll chip stays green (HTTP 200). docs/demo/explainer-chart.png</a:t>
            </a:r>
          </a:p>
        </p:txBody>
      </p:sp>
      <p:sp>
        <p:nvSpPr>
          <p:cNvPr id="12" name="Callout 1"/>
          <p:cNvSpPr/>
          <p:nvPr/>
        </p:nvSpPr>
        <p:spPr>
          <a:xfrm>
            <a:off x="6446520" y="4434840"/>
            <a:ext cx="2506827" cy="1691640"/>
          </a:xfrm>
          <a:prstGeom prst="roundRect">
            <a:avLst>
              <a:gd name="adj" fmla="val 6000"/>
            </a:avLst>
          </a:prstGeom>
          <a:solidFill>
            <a:srgbClr val="FB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llout value 1"/>
          <p:cNvSpPr txBox="1"/>
          <p:nvPr/>
        </p:nvSpPr>
        <p:spPr>
          <a:xfrm>
            <a:off x="6629400" y="4544568"/>
            <a:ext cx="21410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D94834"/>
                </a:solidFill>
                <a:latin typeface="Cambria"/>
              </a:rPr>
              <a:t>34 / 34</a:t>
            </a:r>
          </a:p>
        </p:txBody>
      </p:sp>
      <p:sp>
        <p:nvSpPr>
          <p:cNvPr id="14" name="Callout label 1"/>
          <p:cNvSpPr txBox="1"/>
          <p:nvPr/>
        </p:nvSpPr>
        <p:spPr>
          <a:xfrm>
            <a:off x="6629400" y="5230368"/>
            <a:ext cx="214106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2133"/>
                </a:solidFill>
                <a:latin typeface="Calibri"/>
              </a:rPr>
              <a:t>polls returned HTTP 200 during the run, 17 of them while the data was stale</a:t>
            </a:r>
          </a:p>
        </p:txBody>
      </p:sp>
      <p:sp>
        <p:nvSpPr>
          <p:cNvPr id="15" name="Callout 2"/>
          <p:cNvSpPr/>
          <p:nvPr/>
        </p:nvSpPr>
        <p:spPr>
          <a:xfrm>
            <a:off x="9181947" y="4434840"/>
            <a:ext cx="2506827" cy="1691640"/>
          </a:xfrm>
          <a:prstGeom prst="roundRect">
            <a:avLst>
              <a:gd name="adj" fmla="val 6000"/>
            </a:avLst>
          </a:prstGeom>
          <a:solidFill>
            <a:srgbClr val="E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allout value 2"/>
          <p:cNvSpPr txBox="1"/>
          <p:nvPr/>
        </p:nvSpPr>
        <p:spPr>
          <a:xfrm>
            <a:off x="9364827" y="4544568"/>
            <a:ext cx="21410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8C80"/>
                </a:solidFill>
                <a:latin typeface="Cambria"/>
              </a:rPr>
              <a:t>4.85 s</a:t>
            </a:r>
          </a:p>
        </p:txBody>
      </p:sp>
      <p:sp>
        <p:nvSpPr>
          <p:cNvPr id="17" name="Callout label 2"/>
          <p:cNvSpPr txBox="1"/>
          <p:nvPr/>
        </p:nvSpPr>
        <p:spPr>
          <a:xfrm>
            <a:off x="9364827" y="5230368"/>
            <a:ext cx="214106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42133"/>
                </a:solidFill>
                <a:latin typeface="Calibri"/>
              </a:rPr>
              <a:t>median time to detect the stall (6 full-length Day-1 runs)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8C80"/>
                </a:solidFill>
                <a:latin typeface="Calibri"/>
              </a:rPr>
              <a:t>SAMPLE APPLICATION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2133"/>
                </a:solidFill>
                <a:latin typeface="Cambria"/>
              </a:rPr>
              <a:t>Target: Eclipse SDV Fleet Management Blueprint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5606E"/>
                </a:solidFill>
                <a:latin typeface="Calibri"/>
              </a:rPr>
              <a:t>Vendored unchanged (submodule 3d514ac72a, Apache-2.0) · 8 containers in a local Docker Compose project · no cloud, fully reproducible</a:t>
            </a:r>
          </a:p>
        </p:txBody>
      </p:sp>
      <p:sp>
        <p:nvSpPr>
          <p:cNvPr id="5" name="Node csv-provider"/>
          <p:cNvSpPr/>
          <p:nvPr/>
        </p:nvSpPr>
        <p:spPr>
          <a:xfrm>
            <a:off x="502920" y="1691640"/>
            <a:ext cx="1425549" cy="868680"/>
          </a:xfrm>
          <a:prstGeom prst="roundRect">
            <a:avLst>
              <a:gd name="adj" fmla="val 12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ode label csv-provider"/>
          <p:cNvSpPr txBox="1"/>
          <p:nvPr/>
        </p:nvSpPr>
        <p:spPr>
          <a:xfrm>
            <a:off x="557784" y="1764792"/>
            <a:ext cx="13158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csv-provider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replays CAN-like signals</a:t>
            </a:r>
          </a:p>
        </p:txBody>
      </p:sp>
      <p:sp>
        <p:nvSpPr>
          <p:cNvPr id="7" name="Node databroker"/>
          <p:cNvSpPr/>
          <p:nvPr/>
        </p:nvSpPr>
        <p:spPr>
          <a:xfrm>
            <a:off x="2129637" y="1691640"/>
            <a:ext cx="1425549" cy="868680"/>
          </a:xfrm>
          <a:prstGeom prst="roundRect">
            <a:avLst>
              <a:gd name="adj" fmla="val 12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Node label databroker"/>
          <p:cNvSpPr txBox="1"/>
          <p:nvPr/>
        </p:nvSpPr>
        <p:spPr>
          <a:xfrm>
            <a:off x="2184501" y="1764792"/>
            <a:ext cx="13158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databroker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Eclipse KUKSA.val (VSS)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6757" y="2125980"/>
            <a:ext cx="164592" cy="0"/>
          </a:xfrm>
          <a:prstGeom prst="line">
            <a:avLst/>
          </a:prstGeom>
          <a:ln w="25400">
            <a:solidFill>
              <a:srgbClr val="008C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ode fms-forwarder"/>
          <p:cNvSpPr/>
          <p:nvPr/>
        </p:nvSpPr>
        <p:spPr>
          <a:xfrm>
            <a:off x="3756355" y="1691640"/>
            <a:ext cx="1425549" cy="86868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Node label fms-forwarder"/>
          <p:cNvSpPr txBox="1"/>
          <p:nvPr/>
        </p:nvSpPr>
        <p:spPr>
          <a:xfrm>
            <a:off x="3811219" y="1764792"/>
            <a:ext cx="13158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fms-forwarder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stamps createdDateTime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73475" y="2125980"/>
            <a:ext cx="164592" cy="0"/>
          </a:xfrm>
          <a:prstGeom prst="line">
            <a:avLst/>
          </a:prstGeom>
          <a:ln w="25400">
            <a:solidFill>
              <a:srgbClr val="008C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Node fms-zenoh-router"/>
          <p:cNvSpPr/>
          <p:nvPr/>
        </p:nvSpPr>
        <p:spPr>
          <a:xfrm>
            <a:off x="5383072" y="1691640"/>
            <a:ext cx="1425549" cy="868680"/>
          </a:xfrm>
          <a:prstGeom prst="roundRect">
            <a:avLst>
              <a:gd name="adj" fmla="val 12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Node label fms-zenoh-router"/>
          <p:cNvSpPr txBox="1"/>
          <p:nvPr/>
        </p:nvSpPr>
        <p:spPr>
          <a:xfrm>
            <a:off x="5437936" y="1764792"/>
            <a:ext cx="13158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fms-zenoh-router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Eclipse Zenoh · uProtocol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00192" y="2125980"/>
            <a:ext cx="164592" cy="0"/>
          </a:xfrm>
          <a:prstGeom prst="line">
            <a:avLst/>
          </a:prstGeom>
          <a:ln w="25400">
            <a:solidFill>
              <a:srgbClr val="008C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ode fms-consumer"/>
          <p:cNvSpPr/>
          <p:nvPr/>
        </p:nvSpPr>
        <p:spPr>
          <a:xfrm>
            <a:off x="7009790" y="1691640"/>
            <a:ext cx="1425549" cy="868680"/>
          </a:xfrm>
          <a:prstGeom prst="roundRect">
            <a:avLst>
              <a:gd name="adj" fmla="val 12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ode label fms-consumer"/>
          <p:cNvSpPr txBox="1"/>
          <p:nvPr/>
        </p:nvSpPr>
        <p:spPr>
          <a:xfrm>
            <a:off x="7064654" y="1764792"/>
            <a:ext cx="13158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fms-consumer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decodes, writes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26910" y="2125980"/>
            <a:ext cx="164592" cy="0"/>
          </a:xfrm>
          <a:prstGeom prst="line">
            <a:avLst/>
          </a:prstGeom>
          <a:ln w="25400">
            <a:solidFill>
              <a:srgbClr val="008C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de InfluxDB"/>
          <p:cNvSpPr/>
          <p:nvPr/>
        </p:nvSpPr>
        <p:spPr>
          <a:xfrm>
            <a:off x="8636507" y="1691640"/>
            <a:ext cx="1425549" cy="86868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Node label InfluxDB"/>
          <p:cNvSpPr txBox="1"/>
          <p:nvPr/>
        </p:nvSpPr>
        <p:spPr>
          <a:xfrm>
            <a:off x="8691371" y="1764792"/>
            <a:ext cx="13158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InfluxDB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time-series store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53627" y="2125980"/>
            <a:ext cx="164592" cy="0"/>
          </a:xfrm>
          <a:prstGeom prst="line">
            <a:avLst/>
          </a:prstGeom>
          <a:ln w="25400">
            <a:solidFill>
              <a:srgbClr val="008C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ode fms-server"/>
          <p:cNvSpPr/>
          <p:nvPr/>
        </p:nvSpPr>
        <p:spPr>
          <a:xfrm>
            <a:off x="10263225" y="1691640"/>
            <a:ext cx="1425549" cy="86868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Node label fms-server"/>
          <p:cNvSpPr txBox="1"/>
          <p:nvPr/>
        </p:nvSpPr>
        <p:spPr>
          <a:xfrm>
            <a:off x="10318089" y="1764792"/>
            <a:ext cx="131582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fms-server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rFMS REST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80345" y="2125980"/>
            <a:ext cx="164592" cy="0"/>
          </a:xfrm>
          <a:prstGeom prst="line">
            <a:avLst/>
          </a:prstGeom>
          <a:ln w="25400">
            <a:solidFill>
              <a:srgbClr val="008C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 note"/>
          <p:cNvSpPr txBox="1"/>
          <p:nvPr/>
        </p:nvSpPr>
        <p:spPr>
          <a:xfrm>
            <a:off x="502920" y="265176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Vehicle edge  →  transport  →  cloud backend.   Dark nodes: where ResiliencePilot reads (fms-server) or injects allowlisted faults (fms-forwarder, InfluxDB). Grafana is the 8th container.</a:t>
            </a:r>
          </a:p>
        </p:txBody>
      </p:sp>
      <p:sp>
        <p:nvSpPr>
          <p:cNvPr id="26" name="Deployment facts"/>
          <p:cNvSpPr txBox="1"/>
          <p:nvPr/>
        </p:nvSpPr>
        <p:spPr>
          <a:xfrm>
            <a:off x="502920" y="315468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8C80"/>
                </a:solidFill>
                <a:latin typeface="Calibri"/>
              </a:rPr>
              <a:t>Deployment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Docker Compose project resiliencepilot-sdv, local only; our changes live in a Compose override, never in the blueprint.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8C80"/>
                </a:solidFill>
                <a:latin typeface="Calibri"/>
              </a:rPr>
              <a:t>One-command start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./scripts/stack-up.sh (normalises Windows CRLF line endings for bind-mounted files), then stack-status.sh checks all 8 containers + HTTP 200.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8C80"/>
                </a:solidFill>
                <a:latin typeface="Calibri"/>
              </a:rPr>
              <a:t>Tested on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Windows 11 x86-64 and macOS Apple Silicon (amd64 images under emulation).</a:t>
            </a:r>
          </a:p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8C80"/>
                </a:solidFill>
                <a:latin typeface="Calibri"/>
              </a:rPr>
              <a:t>Repository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github.com/Anshu-raj-co/ResiliencePilot</a:t>
            </a:r>
          </a:p>
        </p:txBody>
      </p:sp>
      <p:pic>
        <p:nvPicPr>
          <p:cNvPr id="27" name="Screenshot building" descr="m2-building-fms-forwarder.png"/>
          <p:cNvPicPr>
            <a:picLocks noChangeAspect="1"/>
          </p:cNvPicPr>
          <p:nvPr/>
        </p:nvPicPr>
        <p:blipFill>
          <a:blip r:embed="rId2"/>
          <a:srcRect l="25038" t="4000" r="3038" b="12000"/>
          <a:stretch>
            <a:fillRect/>
          </a:stretch>
        </p:blipFill>
        <p:spPr>
          <a:xfrm>
            <a:off x="4069080" y="3154680"/>
            <a:ext cx="3695547" cy="269748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28" name="Caption"/>
          <p:cNvSpPr txBox="1"/>
          <p:nvPr/>
        </p:nvSpPr>
        <p:spPr>
          <a:xfrm>
            <a:off x="4069080" y="5897880"/>
            <a:ext cx="3695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fms-forwarder inspector: image, ports, role, edges with evidence</a:t>
            </a:r>
          </a:p>
        </p:txBody>
      </p:sp>
      <p:pic>
        <p:nvPicPr>
          <p:cNvPr id="29" name="Screenshot road" descr="m2-road-forwarder-router.png"/>
          <p:cNvPicPr>
            <a:picLocks noChangeAspect="1"/>
          </p:cNvPicPr>
          <p:nvPr/>
        </p:nvPicPr>
        <p:blipFill>
          <a:blip r:embed="rId3"/>
          <a:srcRect l="25038" t="4000" r="3038" b="12000"/>
          <a:stretch>
            <a:fillRect/>
          </a:stretch>
        </p:blipFill>
        <p:spPr>
          <a:xfrm>
            <a:off x="7993227" y="3154680"/>
            <a:ext cx="3695547" cy="269748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30" name="Caption"/>
          <p:cNvSpPr txBox="1"/>
          <p:nvPr/>
        </p:nvSpPr>
        <p:spPr>
          <a:xfrm>
            <a:off x="7993227" y="5897880"/>
            <a:ext cx="3695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forwarder → Zenoh router road: protocol, direction, source line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32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8C80"/>
                </a:solidFill>
                <a:latin typeface="Calibri"/>
              </a:rPr>
              <a:t>SOLUTION ARCHITECTURE &amp; SAFETY CONTROLS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2133"/>
                </a:solidFill>
                <a:latin typeface="Cambria"/>
              </a:rPr>
              <a:t>Advisory AI vs. deterministic safety controller</a:t>
            </a:r>
          </a:p>
        </p:txBody>
      </p:sp>
      <p:sp>
        <p:nvSpPr>
          <p:cNvPr id="4" name="Flow Advisory AI"/>
          <p:cNvSpPr/>
          <p:nvPr/>
        </p:nvSpPr>
        <p:spPr>
          <a:xfrm>
            <a:off x="502920" y="1234440"/>
            <a:ext cx="1993392" cy="713232"/>
          </a:xfrm>
          <a:prstGeom prst="roundRect">
            <a:avLst>
              <a:gd name="adj" fmla="val 15000"/>
            </a:avLst>
          </a:prstGeom>
          <a:solidFill>
            <a:srgbClr val="6A4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low label Advisory AI"/>
          <p:cNvSpPr txBox="1"/>
          <p:nvPr/>
        </p:nvSpPr>
        <p:spPr>
          <a:xfrm>
            <a:off x="576072" y="1289304"/>
            <a:ext cx="184708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Advisory AI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reorders · explains</a:t>
            </a:r>
          </a:p>
        </p:txBody>
      </p:sp>
      <p:sp>
        <p:nvSpPr>
          <p:cNvPr id="6" name="Flow Human approver"/>
          <p:cNvSpPr/>
          <p:nvPr/>
        </p:nvSpPr>
        <p:spPr>
          <a:xfrm>
            <a:off x="2798064" y="1234440"/>
            <a:ext cx="1993392" cy="713232"/>
          </a:xfrm>
          <a:prstGeom prst="roundRect">
            <a:avLst>
              <a:gd name="adj" fmla="val 15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 label Human approver"/>
          <p:cNvSpPr txBox="1"/>
          <p:nvPr/>
        </p:nvSpPr>
        <p:spPr>
          <a:xfrm>
            <a:off x="2871216" y="1289304"/>
            <a:ext cx="184708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Human approver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types name, recorded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3744" y="1591056"/>
            <a:ext cx="246888" cy="0"/>
          </a:xfrm>
          <a:prstGeom prst="line">
            <a:avLst/>
          </a:prstGeom>
          <a:ln w="25400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afety controller"/>
          <p:cNvSpPr/>
          <p:nvPr/>
        </p:nvSpPr>
        <p:spPr>
          <a:xfrm>
            <a:off x="5093208" y="1234440"/>
            <a:ext cx="1993392" cy="713232"/>
          </a:xfrm>
          <a:prstGeom prst="roundRect">
            <a:avLst>
              <a:gd name="adj" fmla="val 15000"/>
            </a:avLst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 label Safety controller"/>
          <p:cNvSpPr txBox="1"/>
          <p:nvPr/>
        </p:nvSpPr>
        <p:spPr>
          <a:xfrm>
            <a:off x="5166360" y="1289304"/>
            <a:ext cx="184708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Safety controller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validates · locks · arms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18888" y="1591056"/>
            <a:ext cx="246888" cy="0"/>
          </a:xfrm>
          <a:prstGeom prst="line">
            <a:avLst/>
          </a:prstGeom>
          <a:ln w="25400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Fault adapter"/>
          <p:cNvSpPr/>
          <p:nvPr/>
        </p:nvSpPr>
        <p:spPr>
          <a:xfrm>
            <a:off x="7388352" y="1234440"/>
            <a:ext cx="1993392" cy="713232"/>
          </a:xfrm>
          <a:prstGeom prst="roundRect">
            <a:avLst>
              <a:gd name="adj" fmla="val 15000"/>
            </a:avLst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 label Fault adapter"/>
          <p:cNvSpPr txBox="1"/>
          <p:nvPr/>
        </p:nvSpPr>
        <p:spPr>
          <a:xfrm>
            <a:off x="7461504" y="1289304"/>
            <a:ext cx="184708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Fault adapter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pause / stop, allowlisted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14032" y="1591056"/>
            <a:ext cx="246888" cy="0"/>
          </a:xfrm>
          <a:prstGeom prst="line">
            <a:avLst/>
          </a:prstGeom>
          <a:ln w="25400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Recovery verifier"/>
          <p:cNvSpPr/>
          <p:nvPr/>
        </p:nvSpPr>
        <p:spPr>
          <a:xfrm>
            <a:off x="9683496" y="1234440"/>
            <a:ext cx="1993392" cy="713232"/>
          </a:xfrm>
          <a:prstGeom prst="roundRect">
            <a:avLst>
              <a:gd name="adj" fmla="val 15000"/>
            </a:avLst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 label Recovery verifier"/>
          <p:cNvSpPr txBox="1"/>
          <p:nvPr/>
        </p:nvSpPr>
        <p:spPr>
          <a:xfrm>
            <a:off x="9756648" y="1289304"/>
            <a:ext cx="184708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Recovery verifier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3 fresh timestamps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09176" y="1591056"/>
            <a:ext cx="246888" cy="0"/>
          </a:xfrm>
          <a:prstGeom prst="line">
            <a:avLst/>
          </a:prstGeom>
          <a:ln w="25400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 note"/>
          <p:cNvSpPr txBox="1"/>
          <p:nvPr/>
        </p:nvSpPr>
        <p:spPr>
          <a:xfrm>
            <a:off x="502920" y="2011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The AI can only suggest. Nothing reaches Docker without a named human and the deterministic controller.</a:t>
            </a:r>
          </a:p>
        </p:txBody>
      </p:sp>
      <p:sp>
        <p:nvSpPr>
          <p:cNvPr id="19" name="Control 1"/>
          <p:cNvSpPr/>
          <p:nvPr/>
        </p:nvSpPr>
        <p:spPr>
          <a:xfrm>
            <a:off x="502920" y="2423160"/>
            <a:ext cx="3246120" cy="12070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ntrol number 1"/>
          <p:cNvSpPr/>
          <p:nvPr/>
        </p:nvSpPr>
        <p:spPr>
          <a:xfrm>
            <a:off x="640080" y="2578608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Control text 1"/>
          <p:cNvSpPr txBox="1"/>
          <p:nvPr/>
        </p:nvSpPr>
        <p:spPr>
          <a:xfrm>
            <a:off x="1143000" y="2551176"/>
            <a:ext cx="2468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Dual-timestamp observer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True data age from createdDateTime; &gt; 5 s is STALE even under HTTP 200.</a:t>
            </a:r>
          </a:p>
        </p:txBody>
      </p:sp>
      <p:sp>
        <p:nvSpPr>
          <p:cNvPr id="22" name="Control 2"/>
          <p:cNvSpPr/>
          <p:nvPr/>
        </p:nvSpPr>
        <p:spPr>
          <a:xfrm>
            <a:off x="3913632" y="2423160"/>
            <a:ext cx="3246120" cy="12070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Control number 2"/>
          <p:cNvSpPr/>
          <p:nvPr/>
        </p:nvSpPr>
        <p:spPr>
          <a:xfrm>
            <a:off x="4050792" y="2578608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Control text 2"/>
          <p:cNvSpPr txBox="1"/>
          <p:nvPr/>
        </p:nvSpPr>
        <p:spPr>
          <a:xfrm>
            <a:off x="4553712" y="2551176"/>
            <a:ext cx="2468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Automated guardrails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Live auto-abort + rollback on HTTP errors, latency p95 above the armed limit, or any change outside the blast radius.</a:t>
            </a:r>
          </a:p>
        </p:txBody>
      </p:sp>
      <p:sp>
        <p:nvSpPr>
          <p:cNvPr id="25" name="Control 3"/>
          <p:cNvSpPr/>
          <p:nvPr/>
        </p:nvSpPr>
        <p:spPr>
          <a:xfrm>
            <a:off x="502920" y="3794760"/>
            <a:ext cx="3246120" cy="12070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Control number 3"/>
          <p:cNvSpPr/>
          <p:nvPr/>
        </p:nvSpPr>
        <p:spPr>
          <a:xfrm>
            <a:off x="640080" y="3950208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Control text 3"/>
          <p:cNvSpPr txBox="1"/>
          <p:nvPr/>
        </p:nvSpPr>
        <p:spPr>
          <a:xfrm>
            <a:off x="1143000" y="3922776"/>
            <a:ext cx="2468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Deterministic controller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Exact-name allowlist + Compose label, one run at a time (run.lock), independent watchdog thread: 30 s hard cap.</a:t>
            </a:r>
          </a:p>
        </p:txBody>
      </p:sp>
      <p:sp>
        <p:nvSpPr>
          <p:cNvPr id="28" name="Control 4"/>
          <p:cNvSpPr/>
          <p:nvPr/>
        </p:nvSpPr>
        <p:spPr>
          <a:xfrm>
            <a:off x="3913632" y="3794760"/>
            <a:ext cx="3246120" cy="12070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Control number 4"/>
          <p:cNvSpPr/>
          <p:nvPr/>
        </p:nvSpPr>
        <p:spPr>
          <a:xfrm>
            <a:off x="4050792" y="3950208"/>
            <a:ext cx="384048" cy="384048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Control text 4"/>
          <p:cNvSpPr txBox="1"/>
          <p:nvPr/>
        </p:nvSpPr>
        <p:spPr>
          <a:xfrm>
            <a:off x="4553712" y="3922776"/>
            <a:ext cx="2468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Verified recovery gate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3 consecutive fresh, advancing vehicle timestamps with HTTP 200. HTTP 200 alone never counts.</a:t>
            </a:r>
          </a:p>
        </p:txBody>
      </p:sp>
      <p:sp>
        <p:nvSpPr>
          <p:cNvPr id="31" name="Control 5"/>
          <p:cNvSpPr/>
          <p:nvPr/>
        </p:nvSpPr>
        <p:spPr>
          <a:xfrm>
            <a:off x="502920" y="5166360"/>
            <a:ext cx="3246120" cy="12070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Control number 5"/>
          <p:cNvSpPr/>
          <p:nvPr/>
        </p:nvSpPr>
        <p:spPr>
          <a:xfrm>
            <a:off x="640080" y="5321808"/>
            <a:ext cx="384048" cy="384048"/>
          </a:xfrm>
          <a:prstGeom prst="ellipse">
            <a:avLst/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Control text 5"/>
          <p:cNvSpPr txBox="1"/>
          <p:nvPr/>
        </p:nvSpPr>
        <p:spPr>
          <a:xfrm>
            <a:off x="1143000" y="5294376"/>
            <a:ext cx="2468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LATCHED_UNSAFE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Unverified rollback or recovery blocks all experiments until a logged human reset.</a:t>
            </a:r>
          </a:p>
        </p:txBody>
      </p:sp>
      <p:sp>
        <p:nvSpPr>
          <p:cNvPr id="34" name="Control 6"/>
          <p:cNvSpPr/>
          <p:nvPr/>
        </p:nvSpPr>
        <p:spPr>
          <a:xfrm>
            <a:off x="3913632" y="5166360"/>
            <a:ext cx="3246120" cy="120700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Control number 6"/>
          <p:cNvSpPr/>
          <p:nvPr/>
        </p:nvSpPr>
        <p:spPr>
          <a:xfrm>
            <a:off x="4050792" y="5321808"/>
            <a:ext cx="384048" cy="384048"/>
          </a:xfrm>
          <a:prstGeom prst="ellipse">
            <a:avLst/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Control text 6"/>
          <p:cNvSpPr txBox="1"/>
          <p:nvPr/>
        </p:nvSpPr>
        <p:spPr>
          <a:xfrm>
            <a:off x="4553712" y="5294376"/>
            <a:ext cx="2468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Independent kill switch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scripts/kill-switch.sh unpauses / starts every allowlisted target even if the backend is dead.</a:t>
            </a:r>
          </a:p>
        </p:txBody>
      </p:sp>
      <p:pic>
        <p:nvPicPr>
          <p:cNvPr id="37" name="Dashboard screenshot" descr="dashboard-day2.png"/>
          <p:cNvPicPr>
            <a:picLocks noChangeAspect="1"/>
          </p:cNvPicPr>
          <p:nvPr/>
        </p:nvPicPr>
        <p:blipFill>
          <a:blip r:embed="rId2"/>
          <a:srcRect b="57844"/>
          <a:stretch>
            <a:fillRect/>
          </a:stretch>
        </p:blipFill>
        <p:spPr>
          <a:xfrm>
            <a:off x="7434072" y="2423160"/>
            <a:ext cx="4254703" cy="388620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38" name="Caption"/>
          <p:cNvSpPr txBox="1"/>
          <p:nvPr/>
        </p:nvSpPr>
        <p:spPr>
          <a:xfrm>
            <a:off x="7434072" y="6355080"/>
            <a:ext cx="4254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Live dashboard: data-age gauge, HTTP chip, phase timeline, controls</a:t>
            </a:r>
          </a:p>
        </p:txBody>
      </p:sp>
      <p:sp>
        <p:nvSpPr>
          <p:cNvPr id="39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40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8C80"/>
                </a:solidFill>
                <a:latin typeface="Calibri"/>
              </a:rPr>
              <a:t>TOOLS &amp; CAPABILITIES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2133"/>
                </a:solidFill>
                <a:latin typeface="Cambria"/>
              </a:rPr>
              <a:t>Tools, technologies &amp; platform capabilities</a:t>
            </a:r>
          </a:p>
        </p:txBody>
      </p:sp>
      <p:sp>
        <p:nvSpPr>
          <p:cNvPr id="4" name="Category 1"/>
          <p:cNvSpPr/>
          <p:nvPr/>
        </p:nvSpPr>
        <p:spPr>
          <a:xfrm>
            <a:off x="502920" y="1280160"/>
            <a:ext cx="3017520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ategory dot 1"/>
          <p:cNvSpPr/>
          <p:nvPr/>
        </p:nvSpPr>
        <p:spPr>
          <a:xfrm>
            <a:off x="667512" y="1444752"/>
            <a:ext cx="329184" cy="329184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Category head 1"/>
          <p:cNvSpPr txBox="1"/>
          <p:nvPr/>
        </p:nvSpPr>
        <p:spPr>
          <a:xfrm>
            <a:off x="1097280" y="1444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133"/>
                </a:solidFill>
                <a:latin typeface="Calibri"/>
              </a:rPr>
              <a:t>Languages &amp; frameworks</a:t>
            </a:r>
          </a:p>
        </p:txBody>
      </p:sp>
      <p:sp>
        <p:nvSpPr>
          <p:cNvPr id="7" name="Category items 1"/>
          <p:cNvSpPr txBox="1"/>
          <p:nvPr/>
        </p:nvSpPr>
        <p:spPr>
          <a:xfrm>
            <a:off x="731520" y="1901952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Python 3.13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FastAPI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Uvicorn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Pydantic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httpx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pytest · 396 passing</a:t>
            </a:r>
          </a:p>
        </p:txBody>
      </p:sp>
      <p:sp>
        <p:nvSpPr>
          <p:cNvPr id="8" name="Category 2"/>
          <p:cNvSpPr/>
          <p:nvPr/>
        </p:nvSpPr>
        <p:spPr>
          <a:xfrm>
            <a:off x="3703320" y="1280160"/>
            <a:ext cx="3017520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tegory dot 2"/>
          <p:cNvSpPr/>
          <p:nvPr/>
        </p:nvSpPr>
        <p:spPr>
          <a:xfrm>
            <a:off x="3867912" y="1444752"/>
            <a:ext cx="329184" cy="329184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Category head 2"/>
          <p:cNvSpPr txBox="1"/>
          <p:nvPr/>
        </p:nvSpPr>
        <p:spPr>
          <a:xfrm>
            <a:off x="4297680" y="1444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133"/>
                </a:solidFill>
                <a:latin typeface="Calibri"/>
              </a:rPr>
              <a:t>Automotive &amp; networking</a:t>
            </a:r>
          </a:p>
        </p:txBody>
      </p:sp>
      <p:sp>
        <p:nvSpPr>
          <p:cNvPr id="11" name="Category items 2"/>
          <p:cNvSpPr txBox="1"/>
          <p:nvPr/>
        </p:nvSpPr>
        <p:spPr>
          <a:xfrm>
            <a:off x="3931920" y="1901952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Eclipse KUKSA.val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COVESA VSS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Eclipse Zenoh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uProtocol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rFMS REST API</a:t>
            </a:r>
          </a:p>
        </p:txBody>
      </p:sp>
      <p:sp>
        <p:nvSpPr>
          <p:cNvPr id="12" name="Category 3"/>
          <p:cNvSpPr/>
          <p:nvPr/>
        </p:nvSpPr>
        <p:spPr>
          <a:xfrm>
            <a:off x="502920" y="3429000"/>
            <a:ext cx="3017520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tegory dot 3"/>
          <p:cNvSpPr/>
          <p:nvPr/>
        </p:nvSpPr>
        <p:spPr>
          <a:xfrm>
            <a:off x="667512" y="3593592"/>
            <a:ext cx="329184" cy="329184"/>
          </a:xfrm>
          <a:prstGeom prst="ellipse">
            <a:avLst/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Category head 3"/>
          <p:cNvSpPr txBox="1"/>
          <p:nvPr/>
        </p:nvSpPr>
        <p:spPr>
          <a:xfrm>
            <a:off x="1097280" y="35935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133"/>
                </a:solidFill>
                <a:latin typeface="Calibri"/>
              </a:rPr>
              <a:t>Infrastructure &amp; storage</a:t>
            </a:r>
          </a:p>
        </p:txBody>
      </p:sp>
      <p:sp>
        <p:nvSpPr>
          <p:cNvPr id="15" name="Category items 3"/>
          <p:cNvSpPr txBox="1"/>
          <p:nvPr/>
        </p:nvSpPr>
        <p:spPr>
          <a:xfrm>
            <a:off x="731520" y="4050792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Docker Compose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InfluxDB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SQLite (DQ quarantine / audit)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JSON run evidence</a:t>
            </a:r>
          </a:p>
        </p:txBody>
      </p:sp>
      <p:sp>
        <p:nvSpPr>
          <p:cNvPr id="16" name="Category 4"/>
          <p:cNvSpPr/>
          <p:nvPr/>
        </p:nvSpPr>
        <p:spPr>
          <a:xfrm>
            <a:off x="3703320" y="3429000"/>
            <a:ext cx="3017520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ategory dot 4"/>
          <p:cNvSpPr/>
          <p:nvPr/>
        </p:nvSpPr>
        <p:spPr>
          <a:xfrm>
            <a:off x="3867912" y="3593592"/>
            <a:ext cx="329184" cy="329184"/>
          </a:xfrm>
          <a:prstGeom prst="ellipse">
            <a:avLst/>
          </a:prstGeom>
          <a:solidFill>
            <a:srgbClr val="6A4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Category head 4"/>
          <p:cNvSpPr txBox="1"/>
          <p:nvPr/>
        </p:nvSpPr>
        <p:spPr>
          <a:xfrm>
            <a:off x="4297680" y="35935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133"/>
                </a:solidFill>
                <a:latin typeface="Calibri"/>
              </a:rPr>
              <a:t>AI &amp; observability</a:t>
            </a:r>
          </a:p>
        </p:txBody>
      </p:sp>
      <p:sp>
        <p:nvSpPr>
          <p:cNvPr id="19" name="Category items 4"/>
          <p:cNvSpPr txBox="1"/>
          <p:nvPr/>
        </p:nvSpPr>
        <p:spPr>
          <a:xfrm>
            <a:off x="3931920" y="4050792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Ollama · Qwen2.5:7b (loopback, no shell / Docker)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Three.js r160 (offline 3D twin)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42133"/>
                </a:solidFill>
                <a:latin typeface="Calibri"/>
              </a:rPr>
              <a:t>•  Live dashboard</a:t>
            </a:r>
          </a:p>
        </p:txBody>
      </p:sp>
      <p:pic>
        <p:nvPicPr>
          <p:cNvPr id="20" name="HUD screenshot" descr="m3-hud-impact-graph-gauges.png"/>
          <p:cNvPicPr>
            <a:picLocks noChangeAspect="1"/>
          </p:cNvPicPr>
          <p:nvPr/>
        </p:nvPicPr>
        <p:blipFill>
          <a:blip r:embed="rId2"/>
          <a:srcRect l="22696" r="2696"/>
          <a:stretch>
            <a:fillRect/>
          </a:stretch>
        </p:blipFill>
        <p:spPr>
          <a:xfrm>
            <a:off x="6995160" y="1280160"/>
            <a:ext cx="4693615" cy="393192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21" name="Caption"/>
          <p:cNvSpPr txBox="1"/>
          <p:nvPr/>
        </p:nvSpPr>
        <p:spPr>
          <a:xfrm>
            <a:off x="6995160" y="5257800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3D twin HUD: impact graph, guardrail gauges, event timeline, sources per fact</a:t>
            </a:r>
          </a:p>
        </p:txBody>
      </p:sp>
      <p:sp>
        <p:nvSpPr>
          <p:cNvPr id="22" name="CLI label"/>
          <p:cNvSpPr txBox="1"/>
          <p:nvPr/>
        </p:nvSpPr>
        <p:spPr>
          <a:xfrm>
            <a:off x="502920" y="55686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5606E"/>
                </a:solidFill>
                <a:latin typeface="Calibri"/>
              </a:rPr>
              <a:t>Platform CLI (every command goes through the same safety controller)</a:t>
            </a:r>
          </a:p>
        </p:txBody>
      </p:sp>
      <p:sp>
        <p:nvSpPr>
          <p:cNvPr id="23" name="Pill rp observe"/>
          <p:cNvSpPr/>
          <p:nvPr/>
        </p:nvSpPr>
        <p:spPr>
          <a:xfrm>
            <a:off x="502920" y="5897880"/>
            <a:ext cx="9265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observe</a:t>
            </a:r>
          </a:p>
        </p:txBody>
      </p:sp>
      <p:sp>
        <p:nvSpPr>
          <p:cNvPr id="24" name="Pill rp baseline"/>
          <p:cNvSpPr/>
          <p:nvPr/>
        </p:nvSpPr>
        <p:spPr>
          <a:xfrm>
            <a:off x="1475232" y="5897880"/>
            <a:ext cx="10027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baseline</a:t>
            </a:r>
          </a:p>
        </p:txBody>
      </p:sp>
      <p:sp>
        <p:nvSpPr>
          <p:cNvPr id="25" name="Pill rp run"/>
          <p:cNvSpPr/>
          <p:nvPr/>
        </p:nvSpPr>
        <p:spPr>
          <a:xfrm>
            <a:off x="2523744" y="589788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run</a:t>
            </a:r>
          </a:p>
        </p:txBody>
      </p:sp>
      <p:sp>
        <p:nvSpPr>
          <p:cNvPr id="26" name="Pill rp stop"/>
          <p:cNvSpPr/>
          <p:nvPr/>
        </p:nvSpPr>
        <p:spPr>
          <a:xfrm>
            <a:off x="3191256" y="5897880"/>
            <a:ext cx="6979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stop</a:t>
            </a:r>
          </a:p>
        </p:txBody>
      </p:sp>
      <p:sp>
        <p:nvSpPr>
          <p:cNvPr id="27" name="Pill rp reset"/>
          <p:cNvSpPr/>
          <p:nvPr/>
        </p:nvSpPr>
        <p:spPr>
          <a:xfrm>
            <a:off x="3934968" y="5897880"/>
            <a:ext cx="7741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reset</a:t>
            </a:r>
          </a:p>
        </p:txBody>
      </p:sp>
      <p:sp>
        <p:nvSpPr>
          <p:cNvPr id="28" name="Pill rp plan"/>
          <p:cNvSpPr/>
          <p:nvPr/>
        </p:nvSpPr>
        <p:spPr>
          <a:xfrm>
            <a:off x="4754880" y="5897880"/>
            <a:ext cx="6979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plan</a:t>
            </a:r>
          </a:p>
        </p:txBody>
      </p:sp>
      <p:sp>
        <p:nvSpPr>
          <p:cNvPr id="29" name="Pill rp advise"/>
          <p:cNvSpPr/>
          <p:nvPr/>
        </p:nvSpPr>
        <p:spPr>
          <a:xfrm>
            <a:off x="5498592" y="589788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advise</a:t>
            </a:r>
          </a:p>
        </p:txBody>
      </p:sp>
      <p:sp>
        <p:nvSpPr>
          <p:cNvPr id="30" name="Pill rp score"/>
          <p:cNvSpPr/>
          <p:nvPr/>
        </p:nvSpPr>
        <p:spPr>
          <a:xfrm>
            <a:off x="6394704" y="5897880"/>
            <a:ext cx="7741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score</a:t>
            </a:r>
          </a:p>
        </p:txBody>
      </p:sp>
      <p:sp>
        <p:nvSpPr>
          <p:cNvPr id="31" name="Pill rp findings"/>
          <p:cNvSpPr/>
          <p:nvPr/>
        </p:nvSpPr>
        <p:spPr>
          <a:xfrm>
            <a:off x="7214616" y="5897880"/>
            <a:ext cx="10027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findings</a:t>
            </a:r>
          </a:p>
        </p:txBody>
      </p:sp>
      <p:sp>
        <p:nvSpPr>
          <p:cNvPr id="32" name="Pill rp serve"/>
          <p:cNvSpPr/>
          <p:nvPr/>
        </p:nvSpPr>
        <p:spPr>
          <a:xfrm>
            <a:off x="8263128" y="5897880"/>
            <a:ext cx="7741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rp serve</a:t>
            </a:r>
          </a:p>
        </p:txBody>
      </p:sp>
      <p:sp>
        <p:nvSpPr>
          <p:cNvPr id="33" name="Pill python -m resiliencepilot.dq"/>
          <p:cNvSpPr/>
          <p:nvPr/>
        </p:nvSpPr>
        <p:spPr>
          <a:xfrm>
            <a:off x="9083040" y="5897880"/>
            <a:ext cx="2298192" cy="310896"/>
          </a:xfrm>
          <a:prstGeom prst="roundRect">
            <a:avLst>
              <a:gd name="adj" fmla="val 50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python -m resiliencepilot.dq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35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8C80"/>
                </a:solidFill>
                <a:latin typeface="Calibri"/>
              </a:rPr>
              <a:t>FAILURE SCENARIOS SELECTED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2133"/>
                </a:solidFill>
                <a:latin typeface="Cambria"/>
              </a:rPr>
              <a:t>Three reversible faults, two vulnerabilities found</a:t>
            </a:r>
          </a:p>
        </p:txBody>
      </p:sp>
      <p:sp>
        <p:nvSpPr>
          <p:cNvPr id="4" name="Scenario 1"/>
          <p:cNvSpPr/>
          <p:nvPr/>
        </p:nvSpPr>
        <p:spPr>
          <a:xfrm>
            <a:off x="502920" y="1280160"/>
            <a:ext cx="3576218" cy="37947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Scenario no 1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Scenario head 1"/>
          <p:cNvSpPr txBox="1"/>
          <p:nvPr/>
        </p:nvSpPr>
        <p:spPr>
          <a:xfrm>
            <a:off x="1280160" y="1463040"/>
            <a:ext cx="266181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133"/>
                </a:solidFill>
                <a:latin typeface="Courier New"/>
              </a:rPr>
              <a:t>telemetry_stall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ourier New"/>
              </a:rPr>
              <a:t>docker pause fms-forwarder</a:t>
            </a:r>
          </a:p>
        </p:txBody>
      </p:sp>
      <p:sp>
        <p:nvSpPr>
          <p:cNvPr id="7" name="Scenario models 1"/>
          <p:cNvSpPr txBox="1"/>
          <p:nvPr/>
        </p:nvSpPr>
        <p:spPr>
          <a:xfrm>
            <a:off x="731520" y="224028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C80"/>
                </a:solidFill>
                <a:latin typeface="Calibri"/>
              </a:rPr>
              <a:t>Models: Publisher freeze / lost cellular uplink</a:t>
            </a:r>
          </a:p>
        </p:txBody>
      </p:sp>
      <p:sp>
        <p:nvSpPr>
          <p:cNvPr id="8" name="Scenario results 1"/>
          <p:cNvSpPr txBox="1"/>
          <p:nvPr/>
        </p:nvSpPr>
        <p:spPr>
          <a:xfrm>
            <a:off x="731520" y="2606040"/>
            <a:ext cx="311901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2133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HTTP 200 on 100 % of fault polls while data froze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2133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Stale detected in 4.8–5.3 s; recovery verified 2.6–3.7 s after rollback</a:t>
            </a:r>
          </a:p>
        </p:txBody>
      </p:sp>
      <p:sp>
        <p:nvSpPr>
          <p:cNvPr id="9" name="Scenario median 1"/>
          <p:cNvSpPr txBox="1"/>
          <p:nvPr/>
        </p:nvSpPr>
        <p:spPr>
          <a:xfrm>
            <a:off x="731520" y="4224528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8 completed runs · median score 62.2</a:t>
            </a:r>
          </a:p>
        </p:txBody>
      </p:sp>
      <p:sp>
        <p:nvSpPr>
          <p:cNvPr id="10" name="Pill V1: silent blackout"/>
          <p:cNvSpPr/>
          <p:nvPr/>
        </p:nvSpPr>
        <p:spPr>
          <a:xfrm>
            <a:off x="731520" y="4526280"/>
            <a:ext cx="1885188" cy="365760"/>
          </a:xfrm>
          <a:prstGeom prst="roundRect">
            <a:avLst>
              <a:gd name="adj" fmla="val 50000"/>
            </a:avLst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V1: silent blackout</a:t>
            </a:r>
          </a:p>
        </p:txBody>
      </p:sp>
      <p:sp>
        <p:nvSpPr>
          <p:cNvPr id="11" name="Scenario 2"/>
          <p:cNvSpPr/>
          <p:nvPr/>
        </p:nvSpPr>
        <p:spPr>
          <a:xfrm>
            <a:off x="4307738" y="1280160"/>
            <a:ext cx="3576218" cy="37947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cenario no 2"/>
          <p:cNvSpPr/>
          <p:nvPr/>
        </p:nvSpPr>
        <p:spPr>
          <a:xfrm>
            <a:off x="4490618" y="1463040"/>
            <a:ext cx="457200" cy="45720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Scenario head 2"/>
          <p:cNvSpPr txBox="1"/>
          <p:nvPr/>
        </p:nvSpPr>
        <p:spPr>
          <a:xfrm>
            <a:off x="5084978" y="1463040"/>
            <a:ext cx="266181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133"/>
                </a:solidFill>
                <a:latin typeface="Courier New"/>
              </a:rPr>
              <a:t>service_crash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ourier New"/>
              </a:rPr>
              <a:t>docker stop / start fms-forwarder</a:t>
            </a:r>
          </a:p>
        </p:txBody>
      </p:sp>
      <p:sp>
        <p:nvSpPr>
          <p:cNvPr id="14" name="Scenario models 2"/>
          <p:cNvSpPr txBox="1"/>
          <p:nvPr/>
        </p:nvSpPr>
        <p:spPr>
          <a:xfrm>
            <a:off x="4536338" y="224028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C80"/>
                </a:solidFill>
                <a:latin typeface="Calibri"/>
              </a:rPr>
              <a:t>Models: Container crash and restart</a:t>
            </a:r>
          </a:p>
        </p:txBody>
      </p:sp>
      <p:sp>
        <p:nvSpPr>
          <p:cNvPr id="15" name="Scenario results 2"/>
          <p:cNvSpPr txBox="1"/>
          <p:nvPr/>
        </p:nvSpPr>
        <p:spPr>
          <a:xfrm>
            <a:off x="4536338" y="2606040"/>
            <a:ext cx="311901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2133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Same silent symptom: HTTP 200 with stale data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2133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Forwarder ignores SIGTERM (always SIGKILL, exit 137); recovery 2.5–3.7 s</a:t>
            </a:r>
          </a:p>
        </p:txBody>
      </p:sp>
      <p:sp>
        <p:nvSpPr>
          <p:cNvPr id="16" name="Scenario median 2"/>
          <p:cNvSpPr txBox="1"/>
          <p:nvPr/>
        </p:nvSpPr>
        <p:spPr>
          <a:xfrm>
            <a:off x="4536338" y="4224528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5 completed runs · median score 65.1</a:t>
            </a:r>
          </a:p>
        </p:txBody>
      </p:sp>
      <p:sp>
        <p:nvSpPr>
          <p:cNvPr id="17" name="Pill V1 confirmed"/>
          <p:cNvSpPr/>
          <p:nvPr/>
        </p:nvSpPr>
        <p:spPr>
          <a:xfrm>
            <a:off x="4536338" y="452628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V1 confirmed</a:t>
            </a:r>
          </a:p>
        </p:txBody>
      </p:sp>
      <p:sp>
        <p:nvSpPr>
          <p:cNvPr id="18" name="Scenario 3"/>
          <p:cNvSpPr/>
          <p:nvPr/>
        </p:nvSpPr>
        <p:spPr>
          <a:xfrm>
            <a:off x="8112556" y="1280160"/>
            <a:ext cx="3576218" cy="37947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cenario no 3"/>
          <p:cNvSpPr/>
          <p:nvPr/>
        </p:nvSpPr>
        <p:spPr>
          <a:xfrm>
            <a:off x="8295436" y="1463040"/>
            <a:ext cx="457200" cy="45720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Scenario head 3"/>
          <p:cNvSpPr txBox="1"/>
          <p:nvPr/>
        </p:nvSpPr>
        <p:spPr>
          <a:xfrm>
            <a:off x="8889796" y="1463040"/>
            <a:ext cx="266181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133"/>
                </a:solidFill>
                <a:latin typeface="Courier New"/>
              </a:rPr>
              <a:t>dependency_failure</a:t>
            </a:r>
          </a:p>
          <a:p>
            <a:pPr algn="l"/>
            <a:r>
              <a:rPr sz="1100" b="0" i="0">
                <a:solidFill>
                  <a:srgbClr val="55606E"/>
                </a:solidFill>
                <a:latin typeface="Courier New"/>
              </a:rPr>
              <a:t>docker stop / start influxDB</a:t>
            </a:r>
          </a:p>
        </p:txBody>
      </p:sp>
      <p:sp>
        <p:nvSpPr>
          <p:cNvPr id="21" name="Scenario models 3"/>
          <p:cNvSpPr txBox="1"/>
          <p:nvPr/>
        </p:nvSpPr>
        <p:spPr>
          <a:xfrm>
            <a:off x="8341156" y="224028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C80"/>
                </a:solidFill>
                <a:latin typeface="Calibri"/>
              </a:rPr>
              <a:t>Models: Database outage</a:t>
            </a:r>
          </a:p>
        </p:txBody>
      </p:sp>
      <p:sp>
        <p:nvSpPr>
          <p:cNvPr id="22" name="Scenario results 3"/>
          <p:cNvSpPr txBox="1"/>
          <p:nvPr/>
        </p:nvSpPr>
        <p:spPr>
          <a:xfrm>
            <a:off x="8341156" y="2606040"/>
            <a:ext cx="311901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2133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142133"/>
                </a:solidFill>
                <a:latin typeface="Calibri"/>
              </a:rPr>
              <a:t>Visible failure first (HTTP 500), which is good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94834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D94834"/>
                </a:solidFill>
                <a:latin typeface="Calibri"/>
              </a:rPr>
              <a:t>Then ~21–24 s of HTTP 200 with frozen data after InfluxDB was back; fms logs showed 'failed to resolve host name' (DNS caching: hypothesis, not verified); 4–31 s of stored data lost</a:t>
            </a:r>
          </a:p>
        </p:txBody>
      </p:sp>
      <p:sp>
        <p:nvSpPr>
          <p:cNvPr id="23" name="Scenario median 3"/>
          <p:cNvSpPr txBox="1"/>
          <p:nvPr/>
        </p:nvSpPr>
        <p:spPr>
          <a:xfrm>
            <a:off x="8341156" y="4224528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3 completed runs · median score 61.6</a:t>
            </a:r>
          </a:p>
        </p:txBody>
      </p:sp>
      <p:sp>
        <p:nvSpPr>
          <p:cNvPr id="24" name="Pill V2: stale after recovery"/>
          <p:cNvSpPr/>
          <p:nvPr/>
        </p:nvSpPr>
        <p:spPr>
          <a:xfrm>
            <a:off x="8341156" y="4526280"/>
            <a:ext cx="2304288" cy="365760"/>
          </a:xfrm>
          <a:prstGeom prst="roundRect">
            <a:avLst>
              <a:gd name="adj" fmla="val 50000"/>
            </a:avLst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V2: stale after recovery</a:t>
            </a:r>
          </a:p>
        </p:txBody>
      </p:sp>
      <p:sp>
        <p:nvSpPr>
          <p:cNvPr id="25" name="Why card"/>
          <p:cNvSpPr/>
          <p:nvPr/>
        </p:nvSpPr>
        <p:spPr>
          <a:xfrm>
            <a:off x="502920" y="5257800"/>
            <a:ext cx="11185855" cy="1005840"/>
          </a:xfrm>
          <a:prstGeom prst="roundRect">
            <a:avLst>
              <a:gd name="adj" fmla="val 6000"/>
            </a:avLst>
          </a:prstGeom>
          <a:solidFill>
            <a:srgbClr val="E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Why text"/>
          <p:cNvSpPr txBox="1"/>
          <p:nvPr/>
        </p:nvSpPr>
        <p:spPr>
          <a:xfrm>
            <a:off x="731520" y="5367528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8C80"/>
                </a:solidFill>
                <a:latin typeface="Calibri"/>
              </a:rPr>
              <a:t>Why these three, in this order  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Each hits a real link of the telemetry chain (publisher, process, storage), is fully reversible (pause/unpause, stop/start), and leaves the host untouched; no CPU burning. The rule-based planner ranks the next run by information gain × risk (unresolved runs, latch rate, neighbours in the dependency map); a human approves each one.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28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8C80"/>
                </a:solidFill>
                <a:latin typeface="Calibri"/>
              </a:rPr>
              <a:t>IMPLEMENTATION &amp; RESULTS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2133"/>
                </a:solidFill>
                <a:latin typeface="Cambria"/>
              </a:rPr>
              <a:t>The proof: tests, recorded runs, guardrails tripped live</a:t>
            </a:r>
          </a:p>
        </p:txBody>
      </p:sp>
      <p:sp>
        <p:nvSpPr>
          <p:cNvPr id="4" name="Metric 1"/>
          <p:cNvSpPr/>
          <p:nvPr/>
        </p:nvSpPr>
        <p:spPr>
          <a:xfrm>
            <a:off x="502920" y="1234440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E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Metric value 1"/>
          <p:cNvSpPr txBox="1"/>
          <p:nvPr/>
        </p:nvSpPr>
        <p:spPr>
          <a:xfrm>
            <a:off x="685800" y="1298448"/>
            <a:ext cx="321045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8C80"/>
                </a:solidFill>
                <a:latin typeface="Cambria"/>
              </a:rPr>
              <a:t>396</a:t>
            </a:r>
          </a:p>
        </p:txBody>
      </p:sp>
      <p:sp>
        <p:nvSpPr>
          <p:cNvPr id="6" name="Metric label 1"/>
          <p:cNvSpPr txBox="1"/>
          <p:nvPr/>
        </p:nvSpPr>
        <p:spPr>
          <a:xfrm>
            <a:off x="685800" y="1874519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unit tests passing</a:t>
            </a:r>
          </a:p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317 core + 79 data quality · 0 failed · 11 live-stack tests skipped</a:t>
            </a:r>
          </a:p>
        </p:txBody>
      </p:sp>
      <p:sp>
        <p:nvSpPr>
          <p:cNvPr id="7" name="Metric 2"/>
          <p:cNvSpPr/>
          <p:nvPr/>
        </p:nvSpPr>
        <p:spPr>
          <a:xfrm>
            <a:off x="4307738" y="1234440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E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Metric value 2"/>
          <p:cNvSpPr txBox="1"/>
          <p:nvPr/>
        </p:nvSpPr>
        <p:spPr>
          <a:xfrm>
            <a:off x="4490618" y="1298448"/>
            <a:ext cx="321045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8C80"/>
                </a:solidFill>
                <a:latin typeface="Cambria"/>
              </a:rPr>
              <a:t>37</a:t>
            </a:r>
          </a:p>
        </p:txBody>
      </p:sp>
      <p:sp>
        <p:nvSpPr>
          <p:cNvPr id="9" name="Metric label 2"/>
          <p:cNvSpPr txBox="1"/>
          <p:nvPr/>
        </p:nvSpPr>
        <p:spPr>
          <a:xfrm>
            <a:off x="4490618" y="1874519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recorded runs, evidence committed</a:t>
            </a:r>
          </a:p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reports/day1 · day2 · guardrail-demo, every record replayable in the 3D twin</a:t>
            </a:r>
          </a:p>
        </p:txBody>
      </p:sp>
      <p:sp>
        <p:nvSpPr>
          <p:cNvPr id="10" name="Metric 3"/>
          <p:cNvSpPr/>
          <p:nvPr/>
        </p:nvSpPr>
        <p:spPr>
          <a:xfrm>
            <a:off x="8112556" y="1234440"/>
            <a:ext cx="3576218" cy="1417320"/>
          </a:xfrm>
          <a:prstGeom prst="roundRect">
            <a:avLst>
              <a:gd name="adj" fmla="val 6000"/>
            </a:avLst>
          </a:prstGeom>
          <a:solidFill>
            <a:srgbClr val="FB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Metric value 3"/>
          <p:cNvSpPr txBox="1"/>
          <p:nvPr/>
        </p:nvSpPr>
        <p:spPr>
          <a:xfrm>
            <a:off x="8295436" y="1298448"/>
            <a:ext cx="321045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D94834"/>
                </a:solidFill>
                <a:latin typeface="Cambria"/>
              </a:rPr>
              <a:t>3 / 3</a:t>
            </a:r>
          </a:p>
        </p:txBody>
      </p:sp>
      <p:sp>
        <p:nvSpPr>
          <p:cNvPr id="12" name="Metric label 3"/>
          <p:cNvSpPr txBox="1"/>
          <p:nvPr/>
        </p:nvSpPr>
        <p:spPr>
          <a:xfrm>
            <a:off x="8295436" y="1874519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133"/>
                </a:solidFill>
                <a:latin typeface="Calibri"/>
              </a:rPr>
              <a:t>guardrails tripped live</a:t>
            </a:r>
          </a:p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Error rate (77b84c) · Latency p95 (8ad2b8) · Blast radius (4aa9f7)</a:t>
            </a:r>
          </a:p>
        </p:txBody>
      </p:sp>
      <p:sp>
        <p:nvSpPr>
          <p:cNvPr id="13" name="Score card"/>
          <p:cNvSpPr/>
          <p:nvPr/>
        </p:nvSpPr>
        <p:spPr>
          <a:xfrm>
            <a:off x="502920" y="2834640"/>
            <a:ext cx="5760720" cy="3429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core head"/>
          <p:cNvSpPr txBox="1"/>
          <p:nvPr/>
        </p:nvSpPr>
        <p:spPr>
          <a:xfrm>
            <a:off x="731520" y="2971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133"/>
                </a:solidFill>
                <a:latin typeface="Cambria"/>
              </a:rPr>
              <a:t>Resilience Score (0–100)</a:t>
            </a:r>
          </a:p>
        </p:txBody>
      </p:sp>
      <p:sp>
        <p:nvSpPr>
          <p:cNvPr id="15" name="Formula"/>
          <p:cNvSpPr txBox="1"/>
          <p:nvPr/>
        </p:nvSpPr>
        <p:spPr>
          <a:xfrm>
            <a:off x="731520" y="338328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E1A2B"/>
                </a:solidFill>
                <a:latin typeface="Courier New"/>
              </a:rPr>
              <a:t>Score = 100 × M × (1 − 0.5 × P_silent)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42133"/>
                </a:solidFill>
                <a:latin typeface="Courier New"/>
              </a:rPr>
              <a:t>M = 0.25·D + 0.30·R + 0.20·G + 0.25·B  (measured parts only)</a:t>
            </a:r>
          </a:p>
        </p:txBody>
      </p:sp>
      <p:sp>
        <p:nvSpPr>
          <p:cNvPr id="16" name="Formula legend"/>
          <p:cNvSpPr txBox="1"/>
          <p:nvPr/>
        </p:nvSpPr>
        <p:spPr>
          <a:xfrm>
            <a:off x="731520" y="416052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2133"/>
                </a:solidFill>
                <a:latin typeface="Calibri"/>
              </a:rPr>
              <a:t>D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 detection  ·  </a:t>
            </a:r>
            <a:r>
              <a:rPr sz="1200" b="1" i="0">
                <a:solidFill>
                  <a:srgbClr val="142133"/>
                </a:solidFill>
                <a:latin typeface="Calibri"/>
              </a:rPr>
              <a:t>R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 recovery  ·  </a:t>
            </a:r>
            <a:r>
              <a:rPr sz="1200" b="1" i="0">
                <a:solidFill>
                  <a:srgbClr val="142133"/>
                </a:solidFill>
                <a:latin typeface="Calibri"/>
              </a:rPr>
              <a:t>G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 data integrity  ·  </a:t>
            </a:r>
            <a:r>
              <a:rPr sz="1200" b="1" i="0">
                <a:solidFill>
                  <a:srgbClr val="142133"/>
                </a:solidFill>
                <a:latin typeface="Calibri"/>
              </a:rPr>
              <a:t>B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 blast radius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2133"/>
                </a:solidFill>
                <a:latin typeface="Courier New"/>
              </a:rPr>
              <a:t>P_silent</a:t>
            </a:r>
            <a:r>
              <a:rPr sz="1200" b="0" i="0">
                <a:solidFill>
                  <a:srgbClr val="142133"/>
                </a:solidFill>
                <a:latin typeface="Calibri"/>
              </a:rPr>
              <a:t> = share of polls that returned HTTP 200 with stale data; a run that is silent on every poll keeps at most half its score.</a:t>
            </a:r>
          </a:p>
        </p:txBody>
      </p:sp>
      <p:sp>
        <p:nvSpPr>
          <p:cNvPr id="17" name="Medians label"/>
          <p:cNvSpPr txBox="1"/>
          <p:nvPr/>
        </p:nvSpPr>
        <p:spPr>
          <a:xfrm>
            <a:off x="731520" y="52120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6E"/>
                </a:solidFill>
                <a:latin typeface="Calibri"/>
              </a:rPr>
              <a:t>Medians, full-window Day-2 runs (overall 62.65, n = 10):</a:t>
            </a:r>
          </a:p>
        </p:txBody>
      </p:sp>
      <p:sp>
        <p:nvSpPr>
          <p:cNvPr id="18" name="Median label 0"/>
          <p:cNvSpPr txBox="1"/>
          <p:nvPr/>
        </p:nvSpPr>
        <p:spPr>
          <a:xfrm>
            <a:off x="731520" y="550468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2133"/>
                </a:solidFill>
                <a:latin typeface="Courier New"/>
              </a:rPr>
              <a:t>service_crash</a:t>
            </a:r>
          </a:p>
        </p:txBody>
      </p:sp>
      <p:sp>
        <p:nvSpPr>
          <p:cNvPr id="19" name="Median track 0"/>
          <p:cNvSpPr/>
          <p:nvPr/>
        </p:nvSpPr>
        <p:spPr>
          <a:xfrm>
            <a:off x="2743200" y="5541264"/>
            <a:ext cx="2651760" cy="146304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Median bar 0"/>
          <p:cNvSpPr/>
          <p:nvPr/>
        </p:nvSpPr>
        <p:spPr>
          <a:xfrm>
            <a:off x="2743200" y="5541264"/>
            <a:ext cx="1726295" cy="146304"/>
          </a:xfrm>
          <a:prstGeom prst="rect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Median value 0"/>
          <p:cNvSpPr txBox="1"/>
          <p:nvPr/>
        </p:nvSpPr>
        <p:spPr>
          <a:xfrm>
            <a:off x="5486400" y="55046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133"/>
                </a:solidFill>
                <a:latin typeface="Calibri"/>
              </a:rPr>
              <a:t>65.1</a:t>
            </a:r>
          </a:p>
        </p:txBody>
      </p:sp>
      <p:sp>
        <p:nvSpPr>
          <p:cNvPr id="22" name="Median label 1"/>
          <p:cNvSpPr txBox="1"/>
          <p:nvPr/>
        </p:nvSpPr>
        <p:spPr>
          <a:xfrm>
            <a:off x="731520" y="575157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2133"/>
                </a:solidFill>
                <a:latin typeface="Courier New"/>
              </a:rPr>
              <a:t>telemetry_stall</a:t>
            </a:r>
          </a:p>
        </p:txBody>
      </p:sp>
      <p:sp>
        <p:nvSpPr>
          <p:cNvPr id="23" name="Median track 1"/>
          <p:cNvSpPr/>
          <p:nvPr/>
        </p:nvSpPr>
        <p:spPr>
          <a:xfrm>
            <a:off x="2743200" y="5788152"/>
            <a:ext cx="2651760" cy="146304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Median bar 1"/>
          <p:cNvSpPr/>
          <p:nvPr/>
        </p:nvSpPr>
        <p:spPr>
          <a:xfrm>
            <a:off x="2743200" y="5788152"/>
            <a:ext cx="1649394" cy="146304"/>
          </a:xfrm>
          <a:prstGeom prst="rect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Median value 1"/>
          <p:cNvSpPr txBox="1"/>
          <p:nvPr/>
        </p:nvSpPr>
        <p:spPr>
          <a:xfrm>
            <a:off x="5486400" y="575157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133"/>
                </a:solidFill>
                <a:latin typeface="Calibri"/>
              </a:rPr>
              <a:t>62.2</a:t>
            </a:r>
          </a:p>
        </p:txBody>
      </p:sp>
      <p:sp>
        <p:nvSpPr>
          <p:cNvPr id="26" name="Median label 2"/>
          <p:cNvSpPr txBox="1"/>
          <p:nvPr/>
        </p:nvSpPr>
        <p:spPr>
          <a:xfrm>
            <a:off x="731520" y="599846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2133"/>
                </a:solidFill>
                <a:latin typeface="Courier New"/>
              </a:rPr>
              <a:t>dependency_failure</a:t>
            </a:r>
          </a:p>
        </p:txBody>
      </p:sp>
      <p:sp>
        <p:nvSpPr>
          <p:cNvPr id="27" name="Median track 2"/>
          <p:cNvSpPr/>
          <p:nvPr/>
        </p:nvSpPr>
        <p:spPr>
          <a:xfrm>
            <a:off x="2743200" y="6035040"/>
            <a:ext cx="2651760" cy="146304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Median bar 2"/>
          <p:cNvSpPr/>
          <p:nvPr/>
        </p:nvSpPr>
        <p:spPr>
          <a:xfrm>
            <a:off x="2743200" y="6035040"/>
            <a:ext cx="1633484" cy="146304"/>
          </a:xfrm>
          <a:prstGeom prst="rect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Median value 2"/>
          <p:cNvSpPr txBox="1"/>
          <p:nvPr/>
        </p:nvSpPr>
        <p:spPr>
          <a:xfrm>
            <a:off x="5486400" y="599846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133"/>
                </a:solidFill>
                <a:latin typeface="Calibri"/>
              </a:rPr>
              <a:t>61.6</a:t>
            </a:r>
          </a:p>
        </p:txBody>
      </p:sp>
      <p:pic>
        <p:nvPicPr>
          <p:cNvPr id="30" name="Dashboard stale screenshot" descr="dashboard-stale.png"/>
          <p:cNvPicPr>
            <a:picLocks noChangeAspect="1"/>
          </p:cNvPicPr>
          <p:nvPr/>
        </p:nvPicPr>
        <p:blipFill>
          <a:blip r:embed="rId2"/>
          <a:srcRect t="4000" r="42000" b="43081"/>
          <a:stretch>
            <a:fillRect/>
          </a:stretch>
        </p:blipFill>
        <p:spPr>
          <a:xfrm>
            <a:off x="6537960" y="2834640"/>
            <a:ext cx="2483967" cy="310896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31" name="Caption"/>
          <p:cNvSpPr txBox="1"/>
          <p:nvPr/>
        </p:nvSpPr>
        <p:spPr>
          <a:xfrm>
            <a:off x="6537960" y="5989320"/>
            <a:ext cx="2483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STALE while HTTP 200 (live)</a:t>
            </a:r>
          </a:p>
        </p:txBody>
      </p:sp>
      <p:pic>
        <p:nvPicPr>
          <p:cNvPr id="32" name="Findings and score screenshot" descr="m3-findings-score-tab.png"/>
          <p:cNvPicPr>
            <a:picLocks noChangeAspect="1"/>
          </p:cNvPicPr>
          <p:nvPr/>
        </p:nvPicPr>
        <p:blipFill>
          <a:blip r:embed="rId3"/>
          <a:srcRect l="74500" t="6000" b="42934"/>
          <a:stretch>
            <a:fillRect/>
          </a:stretch>
        </p:blipFill>
        <p:spPr>
          <a:xfrm>
            <a:off x="9204807" y="2834640"/>
            <a:ext cx="2483967" cy="310896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33" name="Caption"/>
          <p:cNvSpPr txBox="1"/>
          <p:nvPr/>
        </p:nvSpPr>
        <p:spPr>
          <a:xfrm>
            <a:off x="9204807" y="5989320"/>
            <a:ext cx="2483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Score + findings tab (3D twin)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35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FD6C8"/>
                </a:solidFill>
                <a:latin typeface="Calibri"/>
              </a:rPr>
              <a:t>DATA QUALITY · LEARNINGS · DEMO VIDEO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Data quality, key learnings &amp; the demo</a:t>
            </a:r>
          </a:p>
        </p:txBody>
      </p:sp>
      <p:sp>
        <p:nvSpPr>
          <p:cNvPr id="4" name="DQ card"/>
          <p:cNvSpPr/>
          <p:nvPr/>
        </p:nvSpPr>
        <p:spPr>
          <a:xfrm>
            <a:off x="502920" y="1280160"/>
            <a:ext cx="3576218" cy="493776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Q badge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C9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DQ</a:t>
            </a:r>
          </a:p>
        </p:txBody>
      </p:sp>
      <p:sp>
        <p:nvSpPr>
          <p:cNvPr id="6" name="DQ head"/>
          <p:cNvSpPr txBox="1"/>
          <p:nvPr/>
        </p:nvSpPr>
        <p:spPr>
          <a:xfrm>
            <a:off x="1234440" y="1481328"/>
            <a:ext cx="27075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Multi-region data-quality gate</a:t>
            </a:r>
          </a:p>
        </p:txBody>
      </p:sp>
      <p:sp>
        <p:nvSpPr>
          <p:cNvPr id="7" name="DQ rules"/>
          <p:cNvSpPr txBox="1"/>
          <p:nvPr/>
        </p:nvSpPr>
        <p:spPr>
          <a:xfrm>
            <a:off x="731520" y="2057400"/>
            <a:ext cx="316473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Universal format: </a:t>
            </a:r>
            <a:r>
              <a:rPr sz="1200" b="0" i="0">
                <a:solidFill>
                  <a:srgbClr val="C9D6E6"/>
                </a:solidFill>
                <a:latin typeface="Calibri"/>
              </a:rPr>
              <a:t>EU DD/MM, US MM/DD, IN DD-MM, ISO, epoch → canonical UTC ISO-8601.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Never guess: </a:t>
            </a:r>
            <a:r>
              <a:rPr sz="1200" b="0" i="0">
                <a:solidFill>
                  <a:srgbClr val="C9D6E6"/>
                </a:solidFill>
                <a:latin typeface="Calibri"/>
              </a:rPr>
              <a:t>ambiguous dates without a region and timestamps &gt; 5 s in the future are quarantined.</a:t>
            </a:r>
          </a:p>
        </p:txBody>
      </p:sp>
      <p:sp>
        <p:nvSpPr>
          <p:cNvPr id="8" name="DQ policy 1"/>
          <p:cNvSpPr/>
          <p:nvPr/>
        </p:nvSpPr>
        <p:spPr>
          <a:xfrm>
            <a:off x="685800" y="3520440"/>
            <a:ext cx="3210458" cy="1005840"/>
          </a:xfrm>
          <a:prstGeom prst="roundRect">
            <a:avLst>
              <a:gd name="adj" fmla="val 6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Q policy text 1"/>
          <p:cNvSpPr txBox="1"/>
          <p:nvPr/>
        </p:nvSpPr>
        <p:spPr>
          <a:xfrm>
            <a:off x="822960" y="3593592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5FD6C8"/>
                </a:solidFill>
                <a:latin typeface="Cambria"/>
              </a:rPr>
              <a:t>2 / 100</a:t>
            </a:r>
          </a:p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≤ 5 % errors: commit 98 + quarantine 2 with reasons, one atomic transaction</a:t>
            </a:r>
          </a:p>
        </p:txBody>
      </p:sp>
      <p:sp>
        <p:nvSpPr>
          <p:cNvPr id="10" name="DQ policy 2"/>
          <p:cNvSpPr/>
          <p:nvPr/>
        </p:nvSpPr>
        <p:spPr>
          <a:xfrm>
            <a:off x="685800" y="4709160"/>
            <a:ext cx="3210458" cy="1005840"/>
          </a:xfrm>
          <a:prstGeom prst="roundRect">
            <a:avLst>
              <a:gd name="adj" fmla="val 6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Q policy text 2"/>
          <p:cNvSpPr txBox="1"/>
          <p:nvPr/>
        </p:nvSpPr>
        <p:spPr>
          <a:xfrm>
            <a:off x="822960" y="4782312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8A78"/>
                </a:solidFill>
                <a:latin typeface="Cambria"/>
              </a:rPr>
              <a:t>10 / 100</a:t>
            </a:r>
          </a:p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&gt; 5 % errors: atomic rollback, 0 saved, operator review flag</a:t>
            </a:r>
          </a:p>
        </p:txBody>
      </p:sp>
      <p:sp>
        <p:nvSpPr>
          <p:cNvPr id="12" name="DQ source"/>
          <p:cNvSpPr txBox="1"/>
          <p:nvPr/>
        </p:nvSpPr>
        <p:spPr>
          <a:xfrm>
            <a:off x="731520" y="5806440"/>
            <a:ext cx="3164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9D6E6"/>
                </a:solidFill>
                <a:latin typeface="Calibri"/>
              </a:rPr>
              <a:t>backend/resiliencepilot/dq/ · synthetic logistics feed · 79 tests</a:t>
            </a:r>
          </a:p>
        </p:txBody>
      </p:sp>
      <p:sp>
        <p:nvSpPr>
          <p:cNvPr id="13" name="Learnings card"/>
          <p:cNvSpPr/>
          <p:nvPr/>
        </p:nvSpPr>
        <p:spPr>
          <a:xfrm>
            <a:off x="4307738" y="1280160"/>
            <a:ext cx="3576218" cy="493776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earnings badge"/>
          <p:cNvSpPr/>
          <p:nvPr/>
        </p:nvSpPr>
        <p:spPr>
          <a:xfrm>
            <a:off x="4490618" y="1463040"/>
            <a:ext cx="411480" cy="411480"/>
          </a:xfrm>
          <a:prstGeom prst="ellipse">
            <a:avLst/>
          </a:prstGeom>
          <a:solidFill>
            <a:srgbClr val="00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5" name="Learnings head"/>
          <p:cNvSpPr txBox="1"/>
          <p:nvPr/>
        </p:nvSpPr>
        <p:spPr>
          <a:xfrm>
            <a:off x="5039258" y="1481328"/>
            <a:ext cx="27075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learnings &amp; what's next</a:t>
            </a:r>
          </a:p>
        </p:txBody>
      </p:sp>
      <p:sp>
        <p:nvSpPr>
          <p:cNvPr id="16" name="Learnings text"/>
          <p:cNvSpPr txBox="1"/>
          <p:nvPr/>
        </p:nvSpPr>
        <p:spPr>
          <a:xfrm>
            <a:off x="4536338" y="2057400"/>
            <a:ext cx="316473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FD6C8"/>
                </a:solidFill>
                <a:latin typeface="Calibri"/>
              </a:rPr>
              <a:t>AI hallucination guardrail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9D6E6"/>
                </a:solidFill>
                <a:latin typeface="Calibri"/>
              </a:rPr>
              <a:t>the 7B analyst proposed 7 root causes; our grounding check against recorded evidence accepted 1 and rejected 6. The deterministic layer carries the analysis.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FD6C8"/>
                </a:solidFill>
                <a:latin typeface="Calibri"/>
              </a:rPr>
              <a:t>Health ≠ freshness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9D6E6"/>
                </a:solidFill>
                <a:latin typeface="Calibri"/>
              </a:rPr>
              <a:t>status codes and container state missed every silent failure we injected.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FD6C8"/>
                </a:solidFill>
                <a:latin typeface="Calibri"/>
              </a:rPr>
              <a:t>Limitations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9D6E6"/>
                </a:solidFill>
                <a:latin typeface="Calibri"/>
              </a:rPr>
              <a:t>container pause/stop only (no proxy → no network faults); one vehicle, one host; in-process watchdog (kill switch covers a crash); no LICENSE file yet.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FD6C8"/>
                </a:solidFill>
                <a:latin typeface="Calibri"/>
              </a:rPr>
              <a:t>Next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9D6E6"/>
                </a:solidFill>
                <a:latin typeface="Calibri"/>
              </a:rPr>
              <a:t>network-delay faults via a proxy, a larger local model, more vehicles, CI on the live stack.</a:t>
            </a:r>
          </a:p>
        </p:txBody>
      </p:sp>
      <p:sp>
        <p:nvSpPr>
          <p:cNvPr id="17" name="Video card"/>
          <p:cNvSpPr/>
          <p:nvPr/>
        </p:nvSpPr>
        <p:spPr>
          <a:xfrm>
            <a:off x="8112556" y="1280160"/>
            <a:ext cx="3576218" cy="493776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lay button"/>
          <p:cNvSpPr/>
          <p:nvPr/>
        </p:nvSpPr>
        <p:spPr>
          <a:xfrm>
            <a:off x="8295436" y="1463040"/>
            <a:ext cx="411480" cy="411480"/>
          </a:xfrm>
          <a:prstGeom prst="ellipse">
            <a:avLst/>
          </a:prstGeom>
          <a:solidFill>
            <a:srgbClr val="D94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lay glyph"/>
          <p:cNvSpPr/>
          <p:nvPr/>
        </p:nvSpPr>
        <p:spPr>
          <a:xfrm rot="5400000">
            <a:off x="8441740" y="1581912"/>
            <a:ext cx="164592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Video head"/>
          <p:cNvSpPr txBox="1"/>
          <p:nvPr/>
        </p:nvSpPr>
        <p:spPr>
          <a:xfrm>
            <a:off x="8844076" y="1481328"/>
            <a:ext cx="27075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2:40 live demo video</a:t>
            </a:r>
          </a:p>
        </p:txBody>
      </p:sp>
      <p:sp>
        <p:nvSpPr>
          <p:cNvPr id="21" name="Video chapters"/>
          <p:cNvSpPr txBox="1"/>
          <p:nvPr/>
        </p:nvSpPr>
        <p:spPr>
          <a:xfrm>
            <a:off x="8341156" y="2057400"/>
            <a:ext cx="316473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FD6C8"/>
                </a:solidFill>
                <a:latin typeface="Courier New"/>
              </a:rPr>
              <a:t>0:00  </a:t>
            </a:r>
            <a:r>
              <a:rPr sz="1100" b="0" i="0">
                <a:solidFill>
                  <a:srgbClr val="C9D6E6"/>
                </a:solidFill>
                <a:latin typeface="Calibri"/>
              </a:rPr>
              <a:t>Team, architecture, our sandbox, healthy live dashboard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FD6C8"/>
                </a:solidFill>
                <a:latin typeface="Courier New"/>
              </a:rPr>
              <a:t>0:33  </a:t>
            </a:r>
            <a:r>
              <a:rPr sz="1100" b="0" i="0">
                <a:solidFill>
                  <a:srgbClr val="C9D6E6"/>
                </a:solidFill>
                <a:latin typeface="Calibri"/>
              </a:rPr>
              <a:t>Live telemetry_stall: human approval, HTTP 200 while data freezes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FD6C8"/>
                </a:solidFill>
                <a:latin typeface="Courier New"/>
              </a:rPr>
              <a:t>1:01  </a:t>
            </a:r>
            <a:r>
              <a:rPr sz="1100" b="0" i="0">
                <a:solidFill>
                  <a:srgbClr val="C9D6E6"/>
                </a:solidFill>
                <a:latin typeface="Calibri"/>
              </a:rPr>
              <a:t>Verified recovery (3 advancing timestamps), metrics, Resilience Score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FD6C8"/>
                </a:solidFill>
                <a:latin typeface="Courier New"/>
              </a:rPr>
              <a:t>1:22  </a:t>
            </a:r>
            <a:r>
              <a:rPr sz="1100" b="0" i="0">
                <a:solidFill>
                  <a:srgbClr val="C9D6E6"/>
                </a:solidFill>
                <a:latin typeface="Calibri"/>
              </a:rPr>
              <a:t>Findings + 3D replay of the InfluxDB outage that latched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FD6C8"/>
                </a:solidFill>
                <a:latin typeface="Courier New"/>
              </a:rPr>
              <a:t>1:47  </a:t>
            </a:r>
            <a:r>
              <a:rPr sz="1100" b="0" i="0">
                <a:solidFill>
                  <a:srgbClr val="C9D6E6"/>
                </a:solidFill>
                <a:latin typeface="Calibri"/>
              </a:rPr>
              <a:t>AI analysis: 1 of 7 answers accepted; safety controls, kill switch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FD6C8"/>
                </a:solidFill>
                <a:latin typeface="Courier New"/>
              </a:rPr>
              <a:t>2:20  </a:t>
            </a:r>
            <a:r>
              <a:rPr sz="1100" b="0" i="0">
                <a:solidFill>
                  <a:srgbClr val="C9D6E6"/>
                </a:solidFill>
                <a:latin typeface="Calibri"/>
              </a:rPr>
              <a:t>Data-quality gate (2/100 committed vs 10/100 rolled back), results</a:t>
            </a:r>
          </a:p>
        </p:txBody>
      </p:sp>
      <p:sp>
        <p:nvSpPr>
          <p:cNvPr id="22" name="Video link box"/>
          <p:cNvSpPr/>
          <p:nvPr/>
        </p:nvSpPr>
        <p:spPr>
          <a:xfrm>
            <a:off x="8295436" y="5029200"/>
            <a:ext cx="3210458" cy="1005840"/>
          </a:xfrm>
          <a:prstGeom prst="roundRect">
            <a:avLst>
              <a:gd name="adj" fmla="val 6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Video link"/>
          <p:cNvSpPr txBox="1"/>
          <p:nvPr/>
        </p:nvSpPr>
        <p:spPr>
          <a:xfrm>
            <a:off x="8432596" y="5120640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Video link</a:t>
            </a:r>
          </a:p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Google Drive link added at submission (make_ppt.py --video-url)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ResiliencePilot SDV  ·  Team ResiliencePilot (Team 26)  ·  Bosch Hackathon 2026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10774375" y="65105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9D6E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ResiliencePilot SDV</dc:title>
  <dc:subject>HTTP 200 is not recovery. Fresh data is.</dc:subject>
  <dc:creator>Team ResiliencePilot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